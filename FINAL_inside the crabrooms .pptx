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nstrument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strumentSans-regular.fntdata"/><Relationship Id="rId11" Type="http://schemas.openxmlformats.org/officeDocument/2006/relationships/slide" Target="slides/slide6.xml"/><Relationship Id="rId22" Type="http://schemas.openxmlformats.org/officeDocument/2006/relationships/font" Target="fonts/InstrumentSans-italic.fntdata"/><Relationship Id="rId10" Type="http://schemas.openxmlformats.org/officeDocument/2006/relationships/slide" Target="slides/slide5.xml"/><Relationship Id="rId21" Type="http://schemas.openxmlformats.org/officeDocument/2006/relationships/font" Target="fonts/InstrumentSans-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Instrument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6da183c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d6da183c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6da183cb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6da183cb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DERYN</a:t>
            </a:r>
            <a:endParaRPr/>
          </a:p>
          <a:p>
            <a:pPr indent="-298450" lvl="0" marL="457200" rtl="0" algn="l">
              <a:spcBef>
                <a:spcPts val="0"/>
              </a:spcBef>
              <a:spcAft>
                <a:spcPts val="0"/>
              </a:spcAft>
              <a:buSzPts val="1100"/>
              <a:buChar char="-"/>
            </a:pPr>
            <a:r>
              <a:rPr lang="en"/>
              <a:t>Invaded both Atlantic and Pacific North American Oceans from eastern shores of Europe </a:t>
            </a:r>
            <a:endParaRPr/>
          </a:p>
          <a:p>
            <a:pPr indent="-298450" lvl="0" marL="457200" rtl="0" algn="l">
              <a:spcBef>
                <a:spcPts val="0"/>
              </a:spcBef>
              <a:spcAft>
                <a:spcPts val="0"/>
              </a:spcAft>
              <a:buSzPts val="1100"/>
              <a:buChar char="-"/>
            </a:pPr>
            <a:r>
              <a:rPr lang="en"/>
              <a:t>They are generalists and are </a:t>
            </a:r>
            <a:r>
              <a:rPr lang="en"/>
              <a:t>Extremely</a:t>
            </a:r>
            <a:r>
              <a:rPr lang="en"/>
              <a:t> tolerant to environmental change </a:t>
            </a:r>
            <a:endParaRPr/>
          </a:p>
          <a:p>
            <a:pPr indent="-298450" lvl="1" marL="914400" rtl="0" algn="l">
              <a:spcBef>
                <a:spcPts val="0"/>
              </a:spcBef>
              <a:spcAft>
                <a:spcPts val="0"/>
              </a:spcAft>
              <a:buSzPts val="1100"/>
              <a:buChar char="-"/>
            </a:pPr>
            <a:r>
              <a:rPr lang="en"/>
              <a:t>Predator: Eats smaller native crabs and other types of small fish </a:t>
            </a:r>
            <a:endParaRPr/>
          </a:p>
          <a:p>
            <a:pPr indent="-298450" lvl="1" marL="914400" rtl="0" algn="l">
              <a:spcBef>
                <a:spcPts val="0"/>
              </a:spcBef>
              <a:spcAft>
                <a:spcPts val="0"/>
              </a:spcAft>
              <a:buSzPts val="1100"/>
              <a:buChar char="-"/>
            </a:pPr>
            <a:r>
              <a:rPr lang="en"/>
              <a:t>Competitor: Outcompetes other crabs in the area for food and shelter </a:t>
            </a:r>
            <a:endParaRPr/>
          </a:p>
          <a:p>
            <a:pPr indent="-298450" lvl="1" marL="914400" rtl="0" algn="l">
              <a:spcBef>
                <a:spcPts val="0"/>
              </a:spcBef>
              <a:spcAft>
                <a:spcPts val="0"/>
              </a:spcAft>
              <a:buSzPts val="1100"/>
              <a:buChar char="-"/>
            </a:pPr>
            <a:r>
              <a:rPr lang="en"/>
              <a:t>Habitat disruptor: Digs up </a:t>
            </a:r>
            <a:r>
              <a:rPr lang="en"/>
              <a:t>eelgrass</a:t>
            </a:r>
            <a:r>
              <a:rPr lang="en"/>
              <a:t> beds and causes erosure to intertidal seabeds due to their burrowing and feeding habitats </a:t>
            </a:r>
            <a:endParaRPr/>
          </a:p>
          <a:p>
            <a:pPr indent="-298450" lvl="1" marL="914400" rtl="0" algn="l">
              <a:spcBef>
                <a:spcPts val="0"/>
              </a:spcBef>
              <a:spcAft>
                <a:spcPts val="0"/>
              </a:spcAft>
              <a:buSzPts val="1100"/>
              <a:buChar char="-"/>
            </a:pPr>
            <a:r>
              <a:rPr lang="en"/>
              <a:t>Also damages bivalve fisheries </a:t>
            </a:r>
            <a:endParaRPr/>
          </a:p>
          <a:p>
            <a:pPr indent="-298450" lvl="0" marL="457200" rtl="0" algn="l">
              <a:spcBef>
                <a:spcPts val="0"/>
              </a:spcBef>
              <a:spcAft>
                <a:spcPts val="0"/>
              </a:spcAft>
              <a:buSzPts val="1100"/>
              <a:buChar char="-"/>
            </a:pPr>
            <a:r>
              <a:rPr lang="en"/>
              <a:t>shore crabs are native to PNW and has a very similar </a:t>
            </a:r>
            <a:r>
              <a:rPr lang="en"/>
              <a:t>range</a:t>
            </a:r>
            <a:r>
              <a:rPr lang="en"/>
              <a:t> and niche the the european green crabs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6da183cbc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6da183cbc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DERYN</a:t>
            </a:r>
            <a:endParaRPr sz="200"/>
          </a:p>
          <a:p>
            <a:pPr indent="0" lvl="0" marL="0" rtl="0" algn="l">
              <a:spcBef>
                <a:spcPts val="0"/>
              </a:spcBef>
              <a:spcAft>
                <a:spcPts val="0"/>
              </a:spcAft>
              <a:buNone/>
            </a:pPr>
            <a:r>
              <a:t/>
            </a:r>
            <a:endParaRPr sz="200"/>
          </a:p>
          <a:p>
            <a:pPr indent="-298450" lvl="0" marL="457200" rtl="0" algn="l">
              <a:spcBef>
                <a:spcPts val="0"/>
              </a:spcBef>
              <a:spcAft>
                <a:spcPts val="0"/>
              </a:spcAft>
              <a:buClr>
                <a:schemeClr val="dk1"/>
              </a:buClr>
              <a:buSzPts val="1100"/>
              <a:buChar char="➔"/>
            </a:pPr>
            <a:r>
              <a:rPr lang="en">
                <a:solidFill>
                  <a:schemeClr val="dk1"/>
                </a:solidFill>
              </a:rPr>
              <a:t>Green crabs were only </a:t>
            </a:r>
            <a:r>
              <a:rPr lang="en">
                <a:solidFill>
                  <a:schemeClr val="dk1"/>
                </a:solidFill>
              </a:rPr>
              <a:t>introduced</a:t>
            </a:r>
            <a:r>
              <a:rPr lang="en">
                <a:solidFill>
                  <a:schemeClr val="dk1"/>
                </a:solidFill>
              </a:rPr>
              <a:t> to puget sound in 2010 so there is a p</a:t>
            </a:r>
            <a:r>
              <a:rPr lang="en">
                <a:solidFill>
                  <a:schemeClr val="dk1"/>
                </a:solidFill>
              </a:rPr>
              <a:t>ossibility of containment if we act fast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Fukui traps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Funnel like shape that crabs climb into and get trapped in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Crab slab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Less of a trap and more of a simulated natural habitat designed to lure in European Green </a:t>
            </a:r>
            <a:r>
              <a:rPr lang="en">
                <a:solidFill>
                  <a:schemeClr val="dk1"/>
                </a:solidFill>
              </a:rPr>
              <a:t>crabs for capture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Native crabs end up as bycatch in both of these traps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Although there is studied effects on behavior and reproductive changes there is almost no research into the stress response of these captured crabs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General changes to stress and metabolic baseline can effect growth, lifestyle, and population status of native shore crabs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For this reason, we hope to fill this knowledge gap with our experiment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6da183cb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6da183cb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testing two main </a:t>
            </a:r>
            <a:r>
              <a:rPr lang="en"/>
              <a:t>variables. 1. The natural trap which mimics the crab slab environment and the classic trap which mimics the Fukui trap 2. Whether or not there is a stress response in hemigrapsus when forced to be in the presence of carcinus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predicted responses are that the simulated classic trap and the presence of carcinus will cause a higher stress response compared to the simulated native trap and no green crab presence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6da183cb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6da183cb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298450" lvl="0" marL="457200" rtl="0" algn="l">
              <a:spcBef>
                <a:spcPts val="0"/>
              </a:spcBef>
              <a:spcAft>
                <a:spcPts val="0"/>
              </a:spcAft>
              <a:buSzPts val="1100"/>
              <a:buChar char="-"/>
            </a:pPr>
            <a:r>
              <a:rPr lang="en"/>
              <a:t>Trap type</a:t>
            </a:r>
            <a:endParaRPr/>
          </a:p>
          <a:p>
            <a:pPr indent="-298450" lvl="1" marL="914400" rtl="0" algn="l">
              <a:spcBef>
                <a:spcPts val="0"/>
              </a:spcBef>
              <a:spcAft>
                <a:spcPts val="0"/>
              </a:spcAft>
              <a:buSzPts val="1100"/>
              <a:buChar char="-"/>
            </a:pPr>
            <a:r>
              <a:rPr lang="en"/>
              <a:t>Classic fukui trap or natural “crab slab”</a:t>
            </a:r>
            <a:endParaRPr/>
          </a:p>
          <a:p>
            <a:pPr indent="-298450" lvl="1" marL="914400" rtl="0" algn="l">
              <a:spcBef>
                <a:spcPts val="0"/>
              </a:spcBef>
              <a:spcAft>
                <a:spcPts val="0"/>
              </a:spcAft>
              <a:buSzPts val="1100"/>
              <a:buChar char="-"/>
            </a:pPr>
            <a:r>
              <a:rPr lang="en"/>
              <a:t>Full pots do not fit within the confines of this experiment</a:t>
            </a:r>
            <a:endParaRPr/>
          </a:p>
          <a:p>
            <a:pPr indent="-298450" lvl="1" marL="914400" rtl="0" algn="l">
              <a:spcBef>
                <a:spcPts val="0"/>
              </a:spcBef>
              <a:spcAft>
                <a:spcPts val="0"/>
              </a:spcAft>
              <a:buSzPts val="1100"/>
              <a:buChar char="-"/>
            </a:pPr>
            <a:r>
              <a:rPr lang="en"/>
              <a:t>Simulate the habitat the pots create within the bins</a:t>
            </a:r>
            <a:endParaRPr/>
          </a:p>
          <a:p>
            <a:pPr indent="-298450" lvl="0" marL="457200" rtl="0" algn="l">
              <a:spcBef>
                <a:spcPts val="0"/>
              </a:spcBef>
              <a:spcAft>
                <a:spcPts val="0"/>
              </a:spcAft>
              <a:buSzPts val="1100"/>
              <a:buChar char="-"/>
            </a:pPr>
            <a:r>
              <a:rPr lang="en"/>
              <a:t>Crab species </a:t>
            </a:r>
            <a:endParaRPr/>
          </a:p>
          <a:p>
            <a:pPr indent="-298450" lvl="1" marL="914400" rtl="0" algn="l">
              <a:spcBef>
                <a:spcPts val="0"/>
              </a:spcBef>
              <a:spcAft>
                <a:spcPts val="0"/>
              </a:spcAft>
              <a:buSzPts val="1100"/>
              <a:buChar char="-"/>
            </a:pPr>
            <a:r>
              <a:rPr lang="en"/>
              <a:t>Hemigrapsus oregonensis by itself or in the presence of Carcinus maenas</a:t>
            </a:r>
            <a:endParaRPr/>
          </a:p>
          <a:p>
            <a:pPr indent="-298450" lvl="0" marL="457200" rtl="0" algn="l">
              <a:spcBef>
                <a:spcPts val="0"/>
              </a:spcBef>
              <a:spcAft>
                <a:spcPts val="0"/>
              </a:spcAft>
              <a:buSzPts val="1100"/>
              <a:buChar char="-"/>
            </a:pPr>
            <a:r>
              <a:rPr lang="en"/>
              <a:t>Each week (x3):</a:t>
            </a:r>
            <a:endParaRPr/>
          </a:p>
          <a:p>
            <a:pPr indent="-298450" lvl="1" marL="914400" rtl="0" algn="l">
              <a:spcBef>
                <a:spcPts val="0"/>
              </a:spcBef>
              <a:spcAft>
                <a:spcPts val="0"/>
              </a:spcAft>
              <a:buSzPts val="1100"/>
              <a:buChar char="-"/>
            </a:pPr>
            <a:r>
              <a:rPr lang="en"/>
              <a:t>Measure righting time of each shore crab</a:t>
            </a:r>
            <a:endParaRPr/>
          </a:p>
          <a:p>
            <a:pPr indent="-298450" lvl="1" marL="914400" rtl="0" algn="l">
              <a:spcBef>
                <a:spcPts val="0"/>
              </a:spcBef>
              <a:spcAft>
                <a:spcPts val="0"/>
              </a:spcAft>
              <a:buSzPts val="1100"/>
              <a:buChar char="-"/>
            </a:pPr>
            <a:r>
              <a:rPr lang="en"/>
              <a:t>Sample water and perform resazurin assay: 0 min, 30 min, and 60 min for each bin -&gt; measure respiration rate</a:t>
            </a:r>
            <a:endParaRPr/>
          </a:p>
          <a:p>
            <a:pPr indent="-298450" lvl="0" marL="457200" rtl="0" algn="l">
              <a:spcBef>
                <a:spcPts val="0"/>
              </a:spcBef>
              <a:spcAft>
                <a:spcPts val="0"/>
              </a:spcAft>
              <a:buSzPts val="1100"/>
              <a:buChar char="-"/>
            </a:pPr>
            <a:r>
              <a:rPr lang="en"/>
              <a:t>Final week: </a:t>
            </a:r>
            <a:endParaRPr/>
          </a:p>
          <a:p>
            <a:pPr indent="-298450" lvl="1" marL="914400" rtl="0" algn="l">
              <a:spcBef>
                <a:spcPts val="0"/>
              </a:spcBef>
              <a:spcAft>
                <a:spcPts val="0"/>
              </a:spcAft>
              <a:buSzPts val="1100"/>
              <a:buChar char="-"/>
            </a:pPr>
            <a:r>
              <a:rPr lang="en"/>
              <a:t>Protein assay with hemolymph extraction</a:t>
            </a:r>
            <a:endParaRPr/>
          </a:p>
          <a:p>
            <a:pPr indent="-298450" lvl="0" marL="457200" rtl="0" algn="l">
              <a:spcBef>
                <a:spcPts val="0"/>
              </a:spcBef>
              <a:spcAft>
                <a:spcPts val="0"/>
              </a:spcAft>
              <a:buSzPts val="1100"/>
              <a:buChar char="-"/>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6da183cbc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6da183cbc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SOPHIE</a:t>
            </a:r>
            <a:endParaRPr/>
          </a:p>
          <a:p>
            <a:pPr indent="0" lvl="0" marL="0" rtl="0" algn="l">
              <a:spcBef>
                <a:spcPts val="0"/>
              </a:spcBef>
              <a:spcAft>
                <a:spcPts val="0"/>
              </a:spcAft>
              <a:buNone/>
            </a:pPr>
            <a:r>
              <a:rPr lang="en"/>
              <a:t>these are </a:t>
            </a:r>
            <a:r>
              <a:rPr lang="en"/>
              <a:t>arbitrary</a:t>
            </a:r>
            <a:r>
              <a:rPr lang="en"/>
              <a:t> y axis values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7508e71c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7508e71c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7508e71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7508e71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c9f0ea03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c9f0ea03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7508e71c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7508e71c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DERYN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Energy expenditure </a:t>
            </a:r>
            <a:endParaRPr/>
          </a:p>
          <a:p>
            <a:pPr indent="-298450" lvl="1" marL="914400" rtl="0" algn="l">
              <a:spcBef>
                <a:spcPts val="0"/>
              </a:spcBef>
              <a:spcAft>
                <a:spcPts val="0"/>
              </a:spcAft>
              <a:buSzPts val="1100"/>
              <a:buChar char="-"/>
            </a:pPr>
            <a:r>
              <a:rPr lang="en"/>
              <a:t>Less protein = using more energy because they are more stressed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866d758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866d758e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DERYN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7508e71c4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7508e71c4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6da183cb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6da183cb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6da183cb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6da183cb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descr="Fun crab - 3D Illustration (Provided by Getty Images)" id="9" name="Google Shape;9;p1"/>
          <p:cNvPicPr preferRelativeResize="0"/>
          <p:nvPr/>
        </p:nvPicPr>
        <p:blipFill>
          <a:blip r:embed="rId1">
            <a:alphaModFix/>
          </a:blip>
          <a:stretch>
            <a:fillRect/>
          </a:stretch>
        </p:blipFill>
        <p:spPr>
          <a:xfrm>
            <a:off x="88675" y="4471000"/>
            <a:ext cx="968499" cy="572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1.jp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23.jpg"/><Relationship Id="rId5"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s://doi.org/10.1016/j.fishres.2007.02.008" TargetMode="External"/><Relationship Id="rId4" Type="http://schemas.openxmlformats.org/officeDocument/2006/relationships/hyperlink" Target="https://nwtreatytribes.org/tribes-test-innovative-trap-in-battle-against-invasive-crab/" TargetMode="External"/><Relationship Id="rId9" Type="http://schemas.openxmlformats.org/officeDocument/2006/relationships/hyperlink" Target="https://doi.org/10.1007/s10530-023-03183-4" TargetMode="External"/><Relationship Id="rId5" Type="http://schemas.openxmlformats.org/officeDocument/2006/relationships/hyperlink" Target="https://doi.org/10.1577/T10-034.1" TargetMode="External"/><Relationship Id="rId6" Type="http://schemas.openxmlformats.org/officeDocument/2006/relationships/hyperlink" Target="https://doi.org/10.1139/er-2021-0059" TargetMode="External"/><Relationship Id="rId7" Type="http://schemas.openxmlformats.org/officeDocument/2006/relationships/hyperlink" Target="https://doi.org/10.1079/PAVSNNR20061043" TargetMode="External"/><Relationship Id="rId8" Type="http://schemas.openxmlformats.org/officeDocument/2006/relationships/hyperlink" Target="https://doi.org/10.1016/j.jembe.2018.03.00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13"/>
          <p:cNvPicPr preferRelativeResize="0"/>
          <p:nvPr/>
        </p:nvPicPr>
        <p:blipFill rotWithShape="1">
          <a:blip r:embed="rId3">
            <a:alphaModFix/>
          </a:blip>
          <a:srcRect b="0" l="2610" r="0" t="0"/>
          <a:stretch/>
        </p:blipFill>
        <p:spPr>
          <a:xfrm>
            <a:off x="0" y="-100"/>
            <a:ext cx="5685400" cy="3287875"/>
          </a:xfrm>
          <a:prstGeom prst="rect">
            <a:avLst/>
          </a:prstGeom>
          <a:noFill/>
          <a:ln>
            <a:noFill/>
          </a:ln>
        </p:spPr>
      </p:pic>
      <p:sp>
        <p:nvSpPr>
          <p:cNvPr id="56" name="Google Shape;56;p13"/>
          <p:cNvSpPr txBox="1"/>
          <p:nvPr/>
        </p:nvSpPr>
        <p:spPr>
          <a:xfrm>
            <a:off x="2245300" y="1672225"/>
            <a:ext cx="4755900" cy="14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pic>
        <p:nvPicPr>
          <p:cNvPr id="57" name="Google Shape;57;p13"/>
          <p:cNvPicPr preferRelativeResize="0"/>
          <p:nvPr/>
        </p:nvPicPr>
        <p:blipFill rotWithShape="1">
          <a:blip r:embed="rId3">
            <a:alphaModFix/>
          </a:blip>
          <a:srcRect b="0" l="0" r="39954" t="4798"/>
          <a:stretch/>
        </p:blipFill>
        <p:spPr>
          <a:xfrm>
            <a:off x="5638850" y="0"/>
            <a:ext cx="3505151" cy="3130175"/>
          </a:xfrm>
          <a:prstGeom prst="rect">
            <a:avLst/>
          </a:prstGeom>
          <a:noFill/>
          <a:ln>
            <a:noFill/>
          </a:ln>
        </p:spPr>
      </p:pic>
      <p:pic>
        <p:nvPicPr>
          <p:cNvPr id="58" name="Google Shape;58;p13"/>
          <p:cNvPicPr preferRelativeResize="0"/>
          <p:nvPr/>
        </p:nvPicPr>
        <p:blipFill rotWithShape="1">
          <a:blip r:embed="rId3">
            <a:alphaModFix/>
          </a:blip>
          <a:srcRect b="39694" l="2686" r="0" t="0"/>
          <a:stretch/>
        </p:blipFill>
        <p:spPr>
          <a:xfrm>
            <a:off x="0" y="3160775"/>
            <a:ext cx="5681176" cy="1982725"/>
          </a:xfrm>
          <a:prstGeom prst="rect">
            <a:avLst/>
          </a:prstGeom>
          <a:noFill/>
          <a:ln>
            <a:noFill/>
          </a:ln>
        </p:spPr>
      </p:pic>
      <p:pic>
        <p:nvPicPr>
          <p:cNvPr id="59" name="Google Shape;59;p13"/>
          <p:cNvPicPr preferRelativeResize="0"/>
          <p:nvPr/>
        </p:nvPicPr>
        <p:blipFill rotWithShape="1">
          <a:blip r:embed="rId3">
            <a:alphaModFix/>
          </a:blip>
          <a:srcRect b="34845" l="0" r="39958" t="0"/>
          <a:stretch/>
        </p:blipFill>
        <p:spPr>
          <a:xfrm>
            <a:off x="5638853" y="3001304"/>
            <a:ext cx="3505151" cy="2142200"/>
          </a:xfrm>
          <a:prstGeom prst="rect">
            <a:avLst/>
          </a:prstGeom>
          <a:noFill/>
          <a:ln>
            <a:noFill/>
          </a:ln>
        </p:spPr>
      </p:pic>
      <p:sp>
        <p:nvSpPr>
          <p:cNvPr id="60" name="Google Shape;60;p13"/>
          <p:cNvSpPr/>
          <p:nvPr/>
        </p:nvSpPr>
        <p:spPr>
          <a:xfrm>
            <a:off x="-108850" y="2123150"/>
            <a:ext cx="9456900" cy="321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txBox="1"/>
          <p:nvPr/>
        </p:nvSpPr>
        <p:spPr>
          <a:xfrm>
            <a:off x="434225" y="2716550"/>
            <a:ext cx="7961700" cy="18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100">
                <a:solidFill>
                  <a:schemeClr val="dk1"/>
                </a:solidFill>
                <a:latin typeface="Instrument Sans"/>
                <a:ea typeface="Instrument Sans"/>
                <a:cs typeface="Instrument Sans"/>
                <a:sym typeface="Instrument Sans"/>
              </a:rPr>
              <a:t>Inside the Crabrooms - Results</a:t>
            </a:r>
            <a:endParaRPr b="1" sz="41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rPr lang="en" sz="3400">
                <a:solidFill>
                  <a:schemeClr val="dk1"/>
                </a:solidFill>
                <a:latin typeface="Instrument Sans"/>
                <a:ea typeface="Instrument Sans"/>
                <a:cs typeface="Instrument Sans"/>
                <a:sym typeface="Instrument Sans"/>
              </a:rPr>
              <a:t>Deryn, Hannah, Sophie</a:t>
            </a:r>
            <a:endParaRPr sz="3400">
              <a:solidFill>
                <a:schemeClr val="dk1"/>
              </a:solidFill>
              <a:latin typeface="Instrument Sans"/>
              <a:ea typeface="Instrument Sans"/>
              <a:cs typeface="Instrument Sans"/>
              <a:sym typeface="Instrument Sans"/>
            </a:endParaRPr>
          </a:p>
        </p:txBody>
      </p:sp>
      <p:pic>
        <p:nvPicPr>
          <p:cNvPr id="62" name="Google Shape;62;p13"/>
          <p:cNvPicPr preferRelativeResize="0"/>
          <p:nvPr/>
        </p:nvPicPr>
        <p:blipFill>
          <a:blip r:embed="rId4">
            <a:alphaModFix/>
          </a:blip>
          <a:stretch>
            <a:fillRect/>
          </a:stretch>
        </p:blipFill>
        <p:spPr>
          <a:xfrm>
            <a:off x="5104621" y="2787834"/>
            <a:ext cx="906950" cy="906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nvSpPr>
        <p:spPr>
          <a:xfrm>
            <a:off x="122307" y="1006638"/>
            <a:ext cx="4483200" cy="34524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Instrument Sans"/>
              <a:buChar char="➔"/>
            </a:pPr>
            <a:r>
              <a:rPr lang="en" sz="2300">
                <a:solidFill>
                  <a:schemeClr val="dk1"/>
                </a:solidFill>
                <a:latin typeface="Instrument Sans"/>
                <a:ea typeface="Instrument Sans"/>
                <a:cs typeface="Instrument Sans"/>
                <a:sym typeface="Instrument Sans"/>
              </a:rPr>
              <a:t>European Green Crabs (</a:t>
            </a:r>
            <a:r>
              <a:rPr i="1" lang="en" sz="2300">
                <a:solidFill>
                  <a:schemeClr val="dk1"/>
                </a:solidFill>
                <a:latin typeface="Instrument Sans"/>
                <a:ea typeface="Instrument Sans"/>
                <a:cs typeface="Instrument Sans"/>
                <a:sym typeface="Instrument Sans"/>
              </a:rPr>
              <a:t>Carcinus maenas</a:t>
            </a:r>
            <a:r>
              <a:rPr lang="en" sz="2300">
                <a:solidFill>
                  <a:schemeClr val="dk1"/>
                </a:solidFill>
                <a:latin typeface="Instrument Sans"/>
                <a:ea typeface="Instrument Sans"/>
                <a:cs typeface="Instrument Sans"/>
                <a:sym typeface="Instrument Sans"/>
              </a:rPr>
              <a:t>) are one of the top 100 worst </a:t>
            </a:r>
            <a:r>
              <a:rPr lang="en" sz="2300">
                <a:solidFill>
                  <a:schemeClr val="dk1"/>
                </a:solidFill>
                <a:latin typeface="Instrument Sans"/>
                <a:ea typeface="Instrument Sans"/>
                <a:cs typeface="Instrument Sans"/>
                <a:sym typeface="Instrument Sans"/>
              </a:rPr>
              <a:t>invasive</a:t>
            </a:r>
            <a:r>
              <a:rPr lang="en" sz="2300">
                <a:solidFill>
                  <a:schemeClr val="dk1"/>
                </a:solidFill>
                <a:latin typeface="Instrument Sans"/>
                <a:ea typeface="Instrument Sans"/>
                <a:cs typeface="Instrument Sans"/>
                <a:sym typeface="Instrument Sans"/>
              </a:rPr>
              <a:t> species </a:t>
            </a:r>
            <a:r>
              <a:rPr lang="en" sz="2300">
                <a:solidFill>
                  <a:schemeClr val="dk1"/>
                </a:solidFill>
                <a:latin typeface="Instrument Sans"/>
                <a:ea typeface="Instrument Sans"/>
                <a:cs typeface="Instrument Sans"/>
                <a:sym typeface="Instrument Sans"/>
              </a:rPr>
              <a:t>(Ens et al., 2022)</a:t>
            </a:r>
            <a:endParaRPr sz="2300">
              <a:solidFill>
                <a:schemeClr val="dk1"/>
              </a:solidFill>
              <a:latin typeface="Instrument Sans"/>
              <a:ea typeface="Instrument Sans"/>
              <a:cs typeface="Instrument Sans"/>
              <a:sym typeface="Instrument Sans"/>
            </a:endParaRPr>
          </a:p>
          <a:p>
            <a:pPr indent="-374650" lvl="0" marL="457200" rtl="0" algn="l">
              <a:spcBef>
                <a:spcPts val="0"/>
              </a:spcBef>
              <a:spcAft>
                <a:spcPts val="0"/>
              </a:spcAft>
              <a:buClr>
                <a:schemeClr val="dk1"/>
              </a:buClr>
              <a:buSzPts val="2300"/>
              <a:buFont typeface="Instrument Sans"/>
              <a:buChar char="➔"/>
            </a:pPr>
            <a:r>
              <a:rPr lang="en" sz="2300">
                <a:solidFill>
                  <a:schemeClr val="dk1"/>
                </a:solidFill>
                <a:latin typeface="Instrument Sans"/>
                <a:ea typeface="Instrument Sans"/>
                <a:cs typeface="Instrument Sans"/>
                <a:sym typeface="Instrument Sans"/>
              </a:rPr>
              <a:t>Native shore crab species at threat due to EGC invasion</a:t>
            </a:r>
            <a:endParaRPr sz="2300">
              <a:solidFill>
                <a:schemeClr val="dk1"/>
              </a:solidFill>
              <a:latin typeface="Instrument Sans"/>
              <a:ea typeface="Instrument Sans"/>
              <a:cs typeface="Instrument Sans"/>
              <a:sym typeface="Instrument Sans"/>
            </a:endParaRPr>
          </a:p>
          <a:p>
            <a:pPr indent="-374650" lvl="1" marL="914400" rtl="0" algn="l">
              <a:spcBef>
                <a:spcPts val="0"/>
              </a:spcBef>
              <a:spcAft>
                <a:spcPts val="0"/>
              </a:spcAft>
              <a:buClr>
                <a:schemeClr val="dk1"/>
              </a:buClr>
              <a:buSzPts val="2300"/>
              <a:buFont typeface="Instrument Sans"/>
              <a:buChar char="◆"/>
            </a:pPr>
            <a:r>
              <a:rPr i="1" lang="en" sz="2300">
                <a:solidFill>
                  <a:srgbClr val="202122"/>
                </a:solidFill>
                <a:latin typeface="Instrument Sans"/>
                <a:ea typeface="Instrument Sans"/>
                <a:cs typeface="Instrument Sans"/>
                <a:sym typeface="Instrument Sans"/>
              </a:rPr>
              <a:t>Hemigrapsus oregonensis</a:t>
            </a:r>
            <a:endParaRPr sz="2300">
              <a:solidFill>
                <a:srgbClr val="202122"/>
              </a:solidFill>
              <a:latin typeface="Instrument Sans"/>
              <a:ea typeface="Instrument Sans"/>
              <a:cs typeface="Instrument Sans"/>
              <a:sym typeface="Instrument Sans"/>
            </a:endParaRPr>
          </a:p>
          <a:p>
            <a:pPr indent="-374650" lvl="1" marL="914400" rtl="0" algn="l">
              <a:spcBef>
                <a:spcPts val="0"/>
              </a:spcBef>
              <a:spcAft>
                <a:spcPts val="0"/>
              </a:spcAft>
              <a:buClr>
                <a:schemeClr val="dk1"/>
              </a:buClr>
              <a:buSzPts val="2300"/>
              <a:buFont typeface="Instrument Sans"/>
              <a:buChar char="◆"/>
            </a:pPr>
            <a:r>
              <a:rPr i="1" lang="en" sz="2300">
                <a:solidFill>
                  <a:srgbClr val="202122"/>
                </a:solidFill>
                <a:latin typeface="Instrument Sans"/>
                <a:ea typeface="Instrument Sans"/>
                <a:cs typeface="Instrument Sans"/>
                <a:sym typeface="Instrument Sans"/>
              </a:rPr>
              <a:t>Hemigrapsus nudus</a:t>
            </a:r>
            <a:endParaRPr i="1" sz="2300">
              <a:solidFill>
                <a:srgbClr val="202122"/>
              </a:solidFill>
              <a:latin typeface="Instrument Sans"/>
              <a:ea typeface="Instrument Sans"/>
              <a:cs typeface="Instrument Sans"/>
              <a:sym typeface="Instrument Sans"/>
            </a:endParaRPr>
          </a:p>
        </p:txBody>
      </p:sp>
      <p:sp>
        <p:nvSpPr>
          <p:cNvPr id="68" name="Google Shape;68;p14"/>
          <p:cNvSpPr txBox="1"/>
          <p:nvPr/>
        </p:nvSpPr>
        <p:spPr>
          <a:xfrm>
            <a:off x="353125" y="260350"/>
            <a:ext cx="78984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200">
                <a:latin typeface="Instrument Sans"/>
                <a:ea typeface="Instrument Sans"/>
                <a:cs typeface="Instrument Sans"/>
                <a:sym typeface="Instrument Sans"/>
              </a:rPr>
              <a:t>Background</a:t>
            </a:r>
            <a:endParaRPr sz="2500">
              <a:latin typeface="Instrument Sans"/>
              <a:ea typeface="Instrument Sans"/>
              <a:cs typeface="Instrument Sans"/>
              <a:sym typeface="Instrument Sans"/>
            </a:endParaRPr>
          </a:p>
        </p:txBody>
      </p:sp>
      <p:pic>
        <p:nvPicPr>
          <p:cNvPr id="69" name="Google Shape;69;p14" title="Screenshot 2026-04-16 at 5.26.15 PM.png"/>
          <p:cNvPicPr preferRelativeResize="0"/>
          <p:nvPr/>
        </p:nvPicPr>
        <p:blipFill rotWithShape="1">
          <a:blip r:embed="rId3">
            <a:alphaModFix/>
          </a:blip>
          <a:srcRect b="0" l="0" r="4961" t="0"/>
          <a:stretch/>
        </p:blipFill>
        <p:spPr>
          <a:xfrm>
            <a:off x="4443677" y="0"/>
            <a:ext cx="2135375" cy="1652050"/>
          </a:xfrm>
          <a:prstGeom prst="rect">
            <a:avLst/>
          </a:prstGeom>
          <a:noFill/>
          <a:ln>
            <a:noFill/>
          </a:ln>
        </p:spPr>
      </p:pic>
      <p:pic>
        <p:nvPicPr>
          <p:cNvPr id="70" name="Google Shape;70;p14" title="Screenshot 2026-04-16 at 5.54.08 PM.png"/>
          <p:cNvPicPr preferRelativeResize="0"/>
          <p:nvPr/>
        </p:nvPicPr>
        <p:blipFill>
          <a:blip r:embed="rId4">
            <a:alphaModFix/>
          </a:blip>
          <a:stretch>
            <a:fillRect/>
          </a:stretch>
        </p:blipFill>
        <p:spPr>
          <a:xfrm>
            <a:off x="6646797" y="0"/>
            <a:ext cx="2497207" cy="5143501"/>
          </a:xfrm>
          <a:prstGeom prst="rect">
            <a:avLst/>
          </a:prstGeom>
          <a:noFill/>
          <a:ln>
            <a:noFill/>
          </a:ln>
        </p:spPr>
      </p:pic>
      <p:pic>
        <p:nvPicPr>
          <p:cNvPr id="71" name="Google Shape;71;p14" title="Screenshot 2026-04-16 at 5.59.39 PM.png"/>
          <p:cNvPicPr preferRelativeResize="0"/>
          <p:nvPr/>
        </p:nvPicPr>
        <p:blipFill>
          <a:blip r:embed="rId5">
            <a:alphaModFix/>
          </a:blip>
          <a:stretch>
            <a:fillRect/>
          </a:stretch>
        </p:blipFill>
        <p:spPr>
          <a:xfrm>
            <a:off x="6740550" y="2361062"/>
            <a:ext cx="1426225" cy="421375"/>
          </a:xfrm>
          <a:prstGeom prst="rect">
            <a:avLst/>
          </a:prstGeom>
          <a:noFill/>
          <a:ln>
            <a:noFill/>
          </a:ln>
        </p:spPr>
      </p:pic>
      <p:pic>
        <p:nvPicPr>
          <p:cNvPr id="72" name="Google Shape;72;p14" title="Screenshot 2026-04-16 at 6.01.15 PM.png"/>
          <p:cNvPicPr preferRelativeResize="0"/>
          <p:nvPr/>
        </p:nvPicPr>
        <p:blipFill>
          <a:blip r:embed="rId6">
            <a:alphaModFix/>
          </a:blip>
          <a:stretch>
            <a:fillRect/>
          </a:stretch>
        </p:blipFill>
        <p:spPr>
          <a:xfrm>
            <a:off x="7946725" y="2246675"/>
            <a:ext cx="304800" cy="247650"/>
          </a:xfrm>
          <a:prstGeom prst="rect">
            <a:avLst/>
          </a:prstGeom>
          <a:noFill/>
          <a:ln>
            <a:noFill/>
          </a:ln>
        </p:spPr>
      </p:pic>
      <p:sp>
        <p:nvSpPr>
          <p:cNvPr id="73" name="Google Shape;73;p14"/>
          <p:cNvSpPr txBox="1"/>
          <p:nvPr/>
        </p:nvSpPr>
        <p:spPr>
          <a:xfrm>
            <a:off x="4626850" y="1486300"/>
            <a:ext cx="1998600" cy="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Instrument Sans"/>
                <a:ea typeface="Instrument Sans"/>
                <a:cs typeface="Instrument Sans"/>
                <a:sym typeface="Instrument Sans"/>
              </a:rPr>
              <a:t>European Green Crab</a:t>
            </a:r>
            <a:endParaRPr>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pic>
        <p:nvPicPr>
          <p:cNvPr id="74" name="Google Shape;74;p14" title="Screenshot 2026-04-16 at 6.09.10 PM.png"/>
          <p:cNvPicPr preferRelativeResize="0"/>
          <p:nvPr/>
        </p:nvPicPr>
        <p:blipFill>
          <a:blip r:embed="rId7">
            <a:alphaModFix/>
          </a:blip>
          <a:stretch>
            <a:fillRect/>
          </a:stretch>
        </p:blipFill>
        <p:spPr>
          <a:xfrm>
            <a:off x="4443687" y="1851191"/>
            <a:ext cx="2135375" cy="1383159"/>
          </a:xfrm>
          <a:prstGeom prst="rect">
            <a:avLst/>
          </a:prstGeom>
          <a:noFill/>
          <a:ln>
            <a:noFill/>
          </a:ln>
        </p:spPr>
      </p:pic>
      <p:sp>
        <p:nvSpPr>
          <p:cNvPr id="75" name="Google Shape;75;p14"/>
          <p:cNvSpPr txBox="1"/>
          <p:nvPr/>
        </p:nvSpPr>
        <p:spPr>
          <a:xfrm>
            <a:off x="4512075" y="3090950"/>
            <a:ext cx="1998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Instrument Sans"/>
                <a:ea typeface="Instrument Sans"/>
                <a:cs typeface="Instrument Sans"/>
                <a:sym typeface="Instrument Sans"/>
              </a:rPr>
              <a:t>Hairy Shore Crab </a:t>
            </a:r>
            <a:endParaRPr>
              <a:solidFill>
                <a:schemeClr val="dk1"/>
              </a:solidFill>
              <a:latin typeface="Instrument Sans"/>
              <a:ea typeface="Instrument Sans"/>
              <a:cs typeface="Instrument Sans"/>
              <a:sym typeface="Instrument Sans"/>
            </a:endParaRPr>
          </a:p>
        </p:txBody>
      </p:sp>
      <p:pic>
        <p:nvPicPr>
          <p:cNvPr id="76" name="Google Shape;76;p14" title="Screenshot 2026-06-02 at 11.34.52 AM.png"/>
          <p:cNvPicPr preferRelativeResize="0"/>
          <p:nvPr/>
        </p:nvPicPr>
        <p:blipFill>
          <a:blip r:embed="rId8">
            <a:alphaModFix/>
          </a:blip>
          <a:stretch>
            <a:fillRect/>
          </a:stretch>
        </p:blipFill>
        <p:spPr>
          <a:xfrm>
            <a:off x="4666625" y="3433500"/>
            <a:ext cx="1689500" cy="1288515"/>
          </a:xfrm>
          <a:prstGeom prst="rect">
            <a:avLst/>
          </a:prstGeom>
          <a:noFill/>
          <a:ln>
            <a:noFill/>
          </a:ln>
        </p:spPr>
      </p:pic>
      <p:sp>
        <p:nvSpPr>
          <p:cNvPr id="77" name="Google Shape;77;p14"/>
          <p:cNvSpPr txBox="1"/>
          <p:nvPr/>
        </p:nvSpPr>
        <p:spPr>
          <a:xfrm>
            <a:off x="4443675" y="4722025"/>
            <a:ext cx="213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Instrument Sans"/>
                <a:ea typeface="Instrument Sans"/>
                <a:cs typeface="Instrument Sans"/>
                <a:sym typeface="Instrument Sans"/>
              </a:rPr>
              <a:t>Purple Shore Crab </a:t>
            </a:r>
            <a:endParaRPr>
              <a:solidFill>
                <a:schemeClr val="dk1"/>
              </a:solidFill>
              <a:latin typeface="Instrument Sans"/>
              <a:ea typeface="Instrument Sans"/>
              <a:cs typeface="Instrument Sans"/>
              <a:sym typeface="Instrumen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nvSpPr>
        <p:spPr>
          <a:xfrm>
            <a:off x="528250" y="1078125"/>
            <a:ext cx="5439600" cy="32955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Instrument Sans"/>
              <a:buChar char="➔"/>
            </a:pPr>
            <a:r>
              <a:rPr lang="en" sz="2200">
                <a:latin typeface="Instrument Sans"/>
                <a:ea typeface="Instrument Sans"/>
                <a:cs typeface="Instrument Sans"/>
                <a:sym typeface="Instrument Sans"/>
              </a:rPr>
              <a:t>Most commonly used control efforts is trapping (Ens et al., 2022)</a:t>
            </a:r>
            <a:endParaRPr sz="2200">
              <a:latin typeface="Instrument Sans"/>
              <a:ea typeface="Instrument Sans"/>
              <a:cs typeface="Instrument Sans"/>
              <a:sym typeface="Instrument Sans"/>
            </a:endParaRPr>
          </a:p>
          <a:p>
            <a:pPr indent="-368300" lvl="1" marL="914400" rtl="0" algn="l">
              <a:spcBef>
                <a:spcPts val="0"/>
              </a:spcBef>
              <a:spcAft>
                <a:spcPts val="0"/>
              </a:spcAft>
              <a:buSzPts val="2200"/>
              <a:buFont typeface="Instrument Sans"/>
              <a:buChar char="◆"/>
            </a:pPr>
            <a:r>
              <a:rPr lang="en" sz="2200">
                <a:latin typeface="Instrument Sans"/>
                <a:ea typeface="Instrument Sans"/>
                <a:cs typeface="Instrument Sans"/>
                <a:sym typeface="Instrument Sans"/>
              </a:rPr>
              <a:t>Fukui traps </a:t>
            </a:r>
            <a:endParaRPr sz="2200">
              <a:latin typeface="Instrument Sans"/>
              <a:ea typeface="Instrument Sans"/>
              <a:cs typeface="Instrument Sans"/>
              <a:sym typeface="Instrument Sans"/>
            </a:endParaRPr>
          </a:p>
          <a:p>
            <a:pPr indent="-368300" lvl="1" marL="914400" rtl="0" algn="l">
              <a:spcBef>
                <a:spcPts val="0"/>
              </a:spcBef>
              <a:spcAft>
                <a:spcPts val="0"/>
              </a:spcAft>
              <a:buSzPts val="2200"/>
              <a:buFont typeface="Instrument Sans"/>
              <a:buChar char="◆"/>
            </a:pPr>
            <a:r>
              <a:rPr lang="en" sz="2200">
                <a:latin typeface="Instrument Sans"/>
                <a:ea typeface="Instrument Sans"/>
                <a:cs typeface="Instrument Sans"/>
                <a:sym typeface="Instrument Sans"/>
              </a:rPr>
              <a:t>Crab slab </a:t>
            </a:r>
            <a:endParaRPr sz="2200">
              <a:latin typeface="Instrument Sans"/>
              <a:ea typeface="Instrument Sans"/>
              <a:cs typeface="Instrument Sans"/>
              <a:sym typeface="Instrument Sans"/>
            </a:endParaRPr>
          </a:p>
          <a:p>
            <a:pPr indent="-368300" lvl="2" marL="1371600" rtl="0" algn="l">
              <a:spcBef>
                <a:spcPts val="0"/>
              </a:spcBef>
              <a:spcAft>
                <a:spcPts val="0"/>
              </a:spcAft>
              <a:buSzPts val="2200"/>
              <a:buFont typeface="Instrument Sans"/>
              <a:buChar char="●"/>
            </a:pPr>
            <a:r>
              <a:rPr lang="en" sz="2200">
                <a:latin typeface="Instrument Sans"/>
                <a:ea typeface="Instrument Sans"/>
                <a:cs typeface="Instrument Sans"/>
                <a:sym typeface="Instrument Sans"/>
              </a:rPr>
              <a:t>Innovative “trap” being tested by the Tulalip tribe (Cauvel, 2024)</a:t>
            </a:r>
            <a:endParaRPr sz="2200">
              <a:latin typeface="Instrument Sans"/>
              <a:ea typeface="Instrument Sans"/>
              <a:cs typeface="Instrument Sans"/>
              <a:sym typeface="Instrument Sans"/>
            </a:endParaRPr>
          </a:p>
          <a:p>
            <a:pPr indent="-368300" lvl="0" marL="457200" rtl="0" algn="l">
              <a:spcBef>
                <a:spcPts val="0"/>
              </a:spcBef>
              <a:spcAft>
                <a:spcPts val="0"/>
              </a:spcAft>
              <a:buClr>
                <a:schemeClr val="dk1"/>
              </a:buClr>
              <a:buSzPts val="2200"/>
              <a:buFont typeface="Instrument Sans"/>
              <a:buChar char="➔"/>
            </a:pPr>
            <a:r>
              <a:rPr lang="en" sz="2200">
                <a:solidFill>
                  <a:schemeClr val="dk1"/>
                </a:solidFill>
                <a:latin typeface="Instrument Sans"/>
                <a:ea typeface="Instrument Sans"/>
                <a:cs typeface="Instrument Sans"/>
                <a:sym typeface="Instrument Sans"/>
              </a:rPr>
              <a:t>Lots of bycatch in trapping efforts</a:t>
            </a:r>
            <a:endParaRPr sz="2200">
              <a:solidFill>
                <a:schemeClr val="dk1"/>
              </a:solidFill>
              <a:latin typeface="Instrument Sans"/>
              <a:ea typeface="Instrument Sans"/>
              <a:cs typeface="Instrument Sans"/>
              <a:sym typeface="Instrument Sans"/>
            </a:endParaRPr>
          </a:p>
          <a:p>
            <a:pPr indent="-368300" lvl="0" marL="457200" rtl="0" algn="l">
              <a:spcBef>
                <a:spcPts val="0"/>
              </a:spcBef>
              <a:spcAft>
                <a:spcPts val="0"/>
              </a:spcAft>
              <a:buClr>
                <a:schemeClr val="dk1"/>
              </a:buClr>
              <a:buSzPts val="2200"/>
              <a:buFont typeface="Instrument Sans"/>
              <a:buChar char="➔"/>
            </a:pPr>
            <a:r>
              <a:rPr lang="en" sz="2200">
                <a:solidFill>
                  <a:schemeClr val="dk1"/>
                </a:solidFill>
                <a:latin typeface="Instrument Sans"/>
                <a:ea typeface="Instrument Sans"/>
                <a:cs typeface="Instrument Sans"/>
                <a:sym typeface="Instrument Sans"/>
              </a:rPr>
              <a:t>Traps cause behavioral and reproductive changes on captured species (Darnell et al., 2010)</a:t>
            </a:r>
            <a:endParaRPr sz="2200">
              <a:latin typeface="Instrument Sans"/>
              <a:ea typeface="Instrument Sans"/>
              <a:cs typeface="Instrument Sans"/>
              <a:sym typeface="Instrument Sans"/>
            </a:endParaRPr>
          </a:p>
          <a:p>
            <a:pPr indent="0" lvl="0" marL="0" rtl="0" algn="l">
              <a:spcBef>
                <a:spcPts val="0"/>
              </a:spcBef>
              <a:spcAft>
                <a:spcPts val="0"/>
              </a:spcAft>
              <a:buNone/>
            </a:pPr>
            <a:r>
              <a:t/>
            </a:r>
            <a:endParaRPr sz="2000">
              <a:latin typeface="Instrument Sans"/>
              <a:ea typeface="Instrument Sans"/>
              <a:cs typeface="Instrument Sans"/>
              <a:sym typeface="Instrument Sans"/>
            </a:endParaRPr>
          </a:p>
        </p:txBody>
      </p:sp>
      <p:sp>
        <p:nvSpPr>
          <p:cNvPr id="83" name="Google Shape;83;p15"/>
          <p:cNvSpPr txBox="1"/>
          <p:nvPr/>
        </p:nvSpPr>
        <p:spPr>
          <a:xfrm>
            <a:off x="333875" y="334525"/>
            <a:ext cx="78984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200">
                <a:latin typeface="Instrument Sans"/>
                <a:ea typeface="Instrument Sans"/>
                <a:cs typeface="Instrument Sans"/>
                <a:sym typeface="Instrument Sans"/>
              </a:rPr>
              <a:t>Background</a:t>
            </a:r>
            <a:endParaRPr sz="2500">
              <a:latin typeface="Instrument Sans"/>
              <a:ea typeface="Instrument Sans"/>
              <a:cs typeface="Instrument Sans"/>
              <a:sym typeface="Instrument Sans"/>
            </a:endParaRPr>
          </a:p>
        </p:txBody>
      </p:sp>
      <p:pic>
        <p:nvPicPr>
          <p:cNvPr id="84" name="Google Shape;84;p15"/>
          <p:cNvPicPr preferRelativeResize="0"/>
          <p:nvPr/>
        </p:nvPicPr>
        <p:blipFill rotWithShape="1">
          <a:blip r:embed="rId3">
            <a:alphaModFix/>
          </a:blip>
          <a:srcRect b="16476" l="12821" r="11272" t="15017"/>
          <a:stretch/>
        </p:blipFill>
        <p:spPr>
          <a:xfrm>
            <a:off x="6141675" y="3448775"/>
            <a:ext cx="2727725" cy="1464826"/>
          </a:xfrm>
          <a:prstGeom prst="rect">
            <a:avLst/>
          </a:prstGeom>
          <a:noFill/>
          <a:ln>
            <a:noFill/>
          </a:ln>
        </p:spPr>
      </p:pic>
      <p:sp>
        <p:nvSpPr>
          <p:cNvPr id="85" name="Google Shape;85;p15"/>
          <p:cNvSpPr txBox="1"/>
          <p:nvPr/>
        </p:nvSpPr>
        <p:spPr>
          <a:xfrm>
            <a:off x="7378800" y="4913600"/>
            <a:ext cx="1765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Crab</a:t>
            </a:r>
            <a:r>
              <a:rPr lang="en" sz="800">
                <a:solidFill>
                  <a:schemeClr val="dk2"/>
                </a:solidFill>
              </a:rPr>
              <a:t> Slab: NW Treaty Tribes</a:t>
            </a:r>
            <a:endParaRPr sz="800">
              <a:solidFill>
                <a:schemeClr val="dk2"/>
              </a:solidFill>
            </a:endParaRPr>
          </a:p>
        </p:txBody>
      </p:sp>
      <p:pic>
        <p:nvPicPr>
          <p:cNvPr id="86" name="Google Shape;86;p15"/>
          <p:cNvPicPr preferRelativeResize="0"/>
          <p:nvPr/>
        </p:nvPicPr>
        <p:blipFill rotWithShape="1">
          <a:blip r:embed="rId4">
            <a:alphaModFix/>
          </a:blip>
          <a:srcRect b="23760" l="7977" r="13892" t="18960"/>
          <a:stretch/>
        </p:blipFill>
        <p:spPr>
          <a:xfrm>
            <a:off x="6141675" y="2435750"/>
            <a:ext cx="2727725" cy="1252200"/>
          </a:xfrm>
          <a:prstGeom prst="rect">
            <a:avLst/>
          </a:prstGeom>
          <a:noFill/>
          <a:ln>
            <a:noFill/>
          </a:ln>
        </p:spPr>
      </p:pic>
      <p:pic>
        <p:nvPicPr>
          <p:cNvPr id="87" name="Google Shape;87;p15" title="Screenshot 2026-04-16 at 6.30.26 PM.png"/>
          <p:cNvPicPr preferRelativeResize="0"/>
          <p:nvPr/>
        </p:nvPicPr>
        <p:blipFill>
          <a:blip r:embed="rId5">
            <a:alphaModFix/>
          </a:blip>
          <a:stretch>
            <a:fillRect/>
          </a:stretch>
        </p:blipFill>
        <p:spPr>
          <a:xfrm>
            <a:off x="6068412" y="0"/>
            <a:ext cx="2874250" cy="2260800"/>
          </a:xfrm>
          <a:prstGeom prst="rect">
            <a:avLst/>
          </a:prstGeom>
          <a:noFill/>
          <a:ln>
            <a:noFill/>
          </a:ln>
        </p:spPr>
      </p:pic>
      <p:sp>
        <p:nvSpPr>
          <p:cNvPr id="88" name="Google Shape;88;p15"/>
          <p:cNvSpPr txBox="1"/>
          <p:nvPr/>
        </p:nvSpPr>
        <p:spPr>
          <a:xfrm>
            <a:off x="7697850" y="2109550"/>
            <a:ext cx="1127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Fukui Trap</a:t>
            </a:r>
            <a:endParaRPr sz="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199950" y="1502300"/>
            <a:ext cx="8744100" cy="39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Instrument Sans"/>
                <a:ea typeface="Instrument Sans"/>
                <a:cs typeface="Instrument Sans"/>
                <a:sym typeface="Instrument Sans"/>
              </a:rPr>
              <a:t>H</a:t>
            </a:r>
            <a:r>
              <a:rPr b="1" baseline="-25000" lang="en" sz="1800">
                <a:latin typeface="Instrument Sans"/>
                <a:ea typeface="Instrument Sans"/>
                <a:cs typeface="Instrument Sans"/>
                <a:sym typeface="Instrument Sans"/>
              </a:rPr>
              <a:t>0</a:t>
            </a:r>
            <a:r>
              <a:rPr lang="en" sz="1800">
                <a:latin typeface="Instrument Sans"/>
                <a:ea typeface="Instrument Sans"/>
                <a:cs typeface="Instrument Sans"/>
                <a:sym typeface="Instrument Sans"/>
              </a:rPr>
              <a:t>: There is </a:t>
            </a:r>
            <a:r>
              <a:rPr lang="en" sz="1800" u="sng">
                <a:latin typeface="Instrument Sans"/>
                <a:ea typeface="Instrument Sans"/>
                <a:cs typeface="Instrument Sans"/>
                <a:sym typeface="Instrument Sans"/>
              </a:rPr>
              <a:t>no change</a:t>
            </a:r>
            <a:r>
              <a:rPr lang="en" sz="1800">
                <a:latin typeface="Instrument Sans"/>
                <a:ea typeface="Instrument Sans"/>
                <a:cs typeface="Instrument Sans"/>
                <a:sym typeface="Instrument Sans"/>
              </a:rPr>
              <a:t> in stress in </a:t>
            </a:r>
            <a:r>
              <a:rPr i="1" lang="en" sz="1800">
                <a:latin typeface="Instrument Sans"/>
                <a:ea typeface="Instrument Sans"/>
                <a:cs typeface="Instrument Sans"/>
                <a:sym typeface="Instrument Sans"/>
              </a:rPr>
              <a:t>Hemigrapsus oregonensis</a:t>
            </a:r>
            <a:r>
              <a:rPr lang="en" sz="1800">
                <a:latin typeface="Instrument Sans"/>
                <a:ea typeface="Instrument Sans"/>
                <a:cs typeface="Instrument Sans"/>
                <a:sym typeface="Instrument Sans"/>
              </a:rPr>
              <a:t> when in a simulated classic trap compared to simulated natural traps with or without </a:t>
            </a:r>
            <a:r>
              <a:rPr i="1" lang="en" sz="1800">
                <a:latin typeface="Instrument Sans"/>
                <a:ea typeface="Instrument Sans"/>
                <a:cs typeface="Instrument Sans"/>
                <a:sym typeface="Instrument Sans"/>
              </a:rPr>
              <a:t>Carcinus maenas</a:t>
            </a:r>
            <a:r>
              <a:rPr lang="en" sz="1800">
                <a:latin typeface="Instrument Sans"/>
                <a:ea typeface="Instrument Sans"/>
                <a:cs typeface="Instrument Sans"/>
                <a:sym typeface="Instrument Sans"/>
              </a:rPr>
              <a:t> exposure. </a:t>
            </a:r>
            <a:endParaRPr sz="1800">
              <a:latin typeface="Instrument Sans"/>
              <a:ea typeface="Instrument Sans"/>
              <a:cs typeface="Instrument Sans"/>
              <a:sym typeface="Instrument Sans"/>
            </a:endParaRPr>
          </a:p>
          <a:p>
            <a:pPr indent="0" lvl="0" marL="0" rtl="0" algn="l">
              <a:spcBef>
                <a:spcPts val="0"/>
              </a:spcBef>
              <a:spcAft>
                <a:spcPts val="0"/>
              </a:spcAft>
              <a:buNone/>
            </a:pPr>
            <a:r>
              <a:t/>
            </a:r>
            <a:endParaRPr sz="1600">
              <a:latin typeface="Instrument Sans"/>
              <a:ea typeface="Instrument Sans"/>
              <a:cs typeface="Instrument Sans"/>
              <a:sym typeface="Instrument Sans"/>
            </a:endParaRPr>
          </a:p>
          <a:p>
            <a:pPr indent="0" lvl="0" marL="0" rtl="0" algn="l">
              <a:spcBef>
                <a:spcPts val="0"/>
              </a:spcBef>
              <a:spcAft>
                <a:spcPts val="0"/>
              </a:spcAft>
              <a:buNone/>
            </a:pPr>
            <a:r>
              <a:rPr b="1" lang="en" sz="1800">
                <a:latin typeface="Instrument Sans"/>
                <a:ea typeface="Instrument Sans"/>
                <a:cs typeface="Instrument Sans"/>
                <a:sym typeface="Instrument Sans"/>
              </a:rPr>
              <a:t>H</a:t>
            </a:r>
            <a:r>
              <a:rPr b="1" baseline="-25000" lang="en" sz="1800">
                <a:latin typeface="Instrument Sans"/>
                <a:ea typeface="Instrument Sans"/>
                <a:cs typeface="Instrument Sans"/>
                <a:sym typeface="Instrument Sans"/>
              </a:rPr>
              <a:t>A</a:t>
            </a:r>
            <a:r>
              <a:rPr lang="en" sz="1800">
                <a:latin typeface="Instrument Sans"/>
                <a:ea typeface="Instrument Sans"/>
                <a:cs typeface="Instrument Sans"/>
                <a:sym typeface="Instrument Sans"/>
              </a:rPr>
              <a:t>: There is </a:t>
            </a:r>
            <a:r>
              <a:rPr lang="en" sz="1800" u="sng">
                <a:latin typeface="Instrument Sans"/>
                <a:ea typeface="Instrument Sans"/>
                <a:cs typeface="Instrument Sans"/>
                <a:sym typeface="Instrument Sans"/>
              </a:rPr>
              <a:t>a change</a:t>
            </a:r>
            <a:r>
              <a:rPr lang="en" sz="1800">
                <a:latin typeface="Instrument Sans"/>
                <a:ea typeface="Instrument Sans"/>
                <a:cs typeface="Instrument Sans"/>
                <a:sym typeface="Instrument Sans"/>
              </a:rPr>
              <a:t> in stress in </a:t>
            </a:r>
            <a:r>
              <a:rPr i="1" lang="en" sz="1800">
                <a:solidFill>
                  <a:schemeClr val="dk1"/>
                </a:solidFill>
                <a:latin typeface="Instrument Sans"/>
                <a:ea typeface="Instrument Sans"/>
                <a:cs typeface="Instrument Sans"/>
                <a:sym typeface="Instrument Sans"/>
              </a:rPr>
              <a:t>Hemigrapsus oregonensis</a:t>
            </a:r>
            <a:r>
              <a:rPr lang="en" sz="1800">
                <a:solidFill>
                  <a:schemeClr val="dk1"/>
                </a:solidFill>
                <a:latin typeface="Instrument Sans"/>
                <a:ea typeface="Instrument Sans"/>
                <a:cs typeface="Instrument Sans"/>
                <a:sym typeface="Instrument Sans"/>
              </a:rPr>
              <a:t> when in a simulated classic trap compared to simulated natural traps with or without </a:t>
            </a:r>
            <a:r>
              <a:rPr i="1" lang="en" sz="1800">
                <a:solidFill>
                  <a:schemeClr val="dk1"/>
                </a:solidFill>
                <a:latin typeface="Instrument Sans"/>
                <a:ea typeface="Instrument Sans"/>
                <a:cs typeface="Instrument Sans"/>
                <a:sym typeface="Instrument Sans"/>
              </a:rPr>
              <a:t>Carcinus maenas</a:t>
            </a:r>
            <a:r>
              <a:rPr lang="en" sz="1800">
                <a:solidFill>
                  <a:schemeClr val="dk1"/>
                </a:solidFill>
                <a:latin typeface="Instrument Sans"/>
                <a:ea typeface="Instrument Sans"/>
                <a:cs typeface="Instrument Sans"/>
                <a:sym typeface="Instrument Sans"/>
              </a:rPr>
              <a:t> exposure.</a:t>
            </a:r>
            <a:endParaRPr sz="18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sz="1300">
              <a:latin typeface="Instrument Sans"/>
              <a:ea typeface="Instrument Sans"/>
              <a:cs typeface="Instrument Sans"/>
              <a:sym typeface="Instrument Sans"/>
            </a:endParaRPr>
          </a:p>
          <a:p>
            <a:pPr indent="0" lvl="0" marL="0" rtl="0" algn="l">
              <a:spcBef>
                <a:spcPts val="0"/>
              </a:spcBef>
              <a:spcAft>
                <a:spcPts val="0"/>
              </a:spcAft>
              <a:buNone/>
            </a:pPr>
            <a:r>
              <a:rPr b="1" lang="en" sz="1700">
                <a:latin typeface="Instrument Sans"/>
                <a:ea typeface="Instrument Sans"/>
                <a:cs typeface="Instrument Sans"/>
                <a:sym typeface="Instrument Sans"/>
              </a:rPr>
              <a:t>H</a:t>
            </a:r>
            <a:r>
              <a:rPr b="1" baseline="-25000" lang="en" sz="1700">
                <a:latin typeface="Instrument Sans"/>
                <a:ea typeface="Instrument Sans"/>
                <a:cs typeface="Instrument Sans"/>
                <a:sym typeface="Instrument Sans"/>
              </a:rPr>
              <a:t>A1</a:t>
            </a:r>
            <a:r>
              <a:rPr baseline="-25000" lang="en" sz="1700">
                <a:latin typeface="Instrument Sans"/>
                <a:ea typeface="Instrument Sans"/>
                <a:cs typeface="Instrument Sans"/>
                <a:sym typeface="Instrument Sans"/>
              </a:rPr>
              <a:t> </a:t>
            </a:r>
            <a:r>
              <a:rPr lang="en" sz="1700">
                <a:latin typeface="Instrument Sans"/>
                <a:ea typeface="Instrument Sans"/>
                <a:cs typeface="Instrument Sans"/>
                <a:sym typeface="Instrument Sans"/>
              </a:rPr>
              <a:t>: Classic traps induce a higher stress response in </a:t>
            </a:r>
            <a:r>
              <a:rPr i="1" lang="en" sz="1700">
                <a:solidFill>
                  <a:schemeClr val="dk1"/>
                </a:solidFill>
                <a:latin typeface="Instrument Sans"/>
                <a:ea typeface="Instrument Sans"/>
                <a:cs typeface="Instrument Sans"/>
                <a:sym typeface="Instrument Sans"/>
              </a:rPr>
              <a:t>Hemigrapsus oregonensis</a:t>
            </a:r>
            <a:r>
              <a:rPr lang="en" sz="1700">
                <a:solidFill>
                  <a:schemeClr val="dk1"/>
                </a:solidFill>
                <a:latin typeface="Instrument Sans"/>
                <a:ea typeface="Instrument Sans"/>
                <a:cs typeface="Instrument Sans"/>
                <a:sym typeface="Instrument Sans"/>
              </a:rPr>
              <a:t>. </a:t>
            </a:r>
            <a:endParaRPr sz="1700">
              <a:latin typeface="Instrument Sans"/>
              <a:ea typeface="Instrument Sans"/>
              <a:cs typeface="Instrument Sans"/>
              <a:sym typeface="Instrument Sans"/>
            </a:endParaRPr>
          </a:p>
          <a:p>
            <a:pPr indent="0" lvl="0" marL="0" rtl="0" algn="l">
              <a:spcBef>
                <a:spcPts val="0"/>
              </a:spcBef>
              <a:spcAft>
                <a:spcPts val="0"/>
              </a:spcAft>
              <a:buNone/>
            </a:pPr>
            <a:r>
              <a:rPr b="1" lang="en" sz="1700">
                <a:latin typeface="Instrument Sans"/>
                <a:ea typeface="Instrument Sans"/>
                <a:cs typeface="Instrument Sans"/>
                <a:sym typeface="Instrument Sans"/>
              </a:rPr>
              <a:t>H</a:t>
            </a:r>
            <a:r>
              <a:rPr b="1" baseline="-25000" lang="en" sz="1700">
                <a:latin typeface="Instrument Sans"/>
                <a:ea typeface="Instrument Sans"/>
                <a:cs typeface="Instrument Sans"/>
                <a:sym typeface="Instrument Sans"/>
              </a:rPr>
              <a:t>A2</a:t>
            </a:r>
            <a:r>
              <a:rPr lang="en" sz="1700">
                <a:latin typeface="Instrument Sans"/>
                <a:ea typeface="Instrument Sans"/>
                <a:cs typeface="Instrument Sans"/>
                <a:sym typeface="Instrument Sans"/>
              </a:rPr>
              <a:t> : </a:t>
            </a:r>
            <a:r>
              <a:rPr lang="en" sz="1700">
                <a:latin typeface="Instrument Sans"/>
                <a:ea typeface="Instrument Sans"/>
                <a:cs typeface="Instrument Sans"/>
                <a:sym typeface="Instrument Sans"/>
              </a:rPr>
              <a:t>Presence of </a:t>
            </a:r>
            <a:r>
              <a:rPr i="1" lang="en" sz="1700">
                <a:solidFill>
                  <a:schemeClr val="dk1"/>
                </a:solidFill>
                <a:latin typeface="Instrument Sans"/>
                <a:ea typeface="Instrument Sans"/>
                <a:cs typeface="Instrument Sans"/>
                <a:sym typeface="Instrument Sans"/>
              </a:rPr>
              <a:t>Carcinus maenas </a:t>
            </a:r>
            <a:r>
              <a:rPr lang="en" sz="1700">
                <a:latin typeface="Instrument Sans"/>
                <a:ea typeface="Instrument Sans"/>
                <a:cs typeface="Instrument Sans"/>
                <a:sym typeface="Instrument Sans"/>
              </a:rPr>
              <a:t>induces a higher stress response in </a:t>
            </a:r>
            <a:r>
              <a:rPr i="1" lang="en" sz="1700">
                <a:solidFill>
                  <a:schemeClr val="dk1"/>
                </a:solidFill>
                <a:latin typeface="Instrument Sans"/>
                <a:ea typeface="Instrument Sans"/>
                <a:cs typeface="Instrument Sans"/>
                <a:sym typeface="Instrument Sans"/>
              </a:rPr>
              <a:t>Hemigrapsus oregonensis</a:t>
            </a:r>
            <a:r>
              <a:rPr lang="en" sz="1700">
                <a:solidFill>
                  <a:schemeClr val="dk1"/>
                </a:solidFill>
                <a:latin typeface="Instrument Sans"/>
                <a:ea typeface="Instrument Sans"/>
                <a:cs typeface="Instrument Sans"/>
                <a:sym typeface="Instrument Sans"/>
              </a:rPr>
              <a:t>.</a:t>
            </a:r>
            <a:endParaRPr sz="1700">
              <a:latin typeface="Instrument Sans"/>
              <a:ea typeface="Instrument Sans"/>
              <a:cs typeface="Instrument Sans"/>
              <a:sym typeface="Instrument Sans"/>
            </a:endParaRPr>
          </a:p>
          <a:p>
            <a:pPr indent="0" lvl="0" marL="0" rtl="0" algn="l">
              <a:spcBef>
                <a:spcPts val="0"/>
              </a:spcBef>
              <a:spcAft>
                <a:spcPts val="0"/>
              </a:spcAft>
              <a:buNone/>
            </a:pPr>
            <a:r>
              <a:t/>
            </a:r>
            <a:endParaRPr sz="2000">
              <a:latin typeface="Instrument Sans"/>
              <a:ea typeface="Instrument Sans"/>
              <a:cs typeface="Instrument Sans"/>
              <a:sym typeface="Instrument Sans"/>
            </a:endParaRPr>
          </a:p>
        </p:txBody>
      </p:sp>
      <p:sp>
        <p:nvSpPr>
          <p:cNvPr id="94" name="Google Shape;94;p16"/>
          <p:cNvSpPr txBox="1"/>
          <p:nvPr/>
        </p:nvSpPr>
        <p:spPr>
          <a:xfrm>
            <a:off x="199950" y="118075"/>
            <a:ext cx="8744100" cy="147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200">
                <a:latin typeface="Instrument Sans"/>
                <a:ea typeface="Instrument Sans"/>
                <a:cs typeface="Instrument Sans"/>
                <a:sym typeface="Instrument Sans"/>
              </a:rPr>
              <a:t>Research Question: </a:t>
            </a:r>
            <a:endParaRPr b="1" sz="3200">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2200">
                <a:latin typeface="Instrument Sans"/>
                <a:ea typeface="Instrument Sans"/>
                <a:cs typeface="Instrument Sans"/>
                <a:sym typeface="Instrument Sans"/>
              </a:rPr>
              <a:t>How do different simulated crab </a:t>
            </a:r>
            <a:r>
              <a:rPr lang="en" sz="2200">
                <a:latin typeface="Instrument Sans"/>
                <a:ea typeface="Instrument Sans"/>
                <a:cs typeface="Instrument Sans"/>
                <a:sym typeface="Instrument Sans"/>
              </a:rPr>
              <a:t>traps </a:t>
            </a:r>
            <a:r>
              <a:rPr lang="en" sz="2200">
                <a:latin typeface="Instrument Sans"/>
                <a:ea typeface="Instrument Sans"/>
                <a:cs typeface="Instrument Sans"/>
                <a:sym typeface="Instrument Sans"/>
              </a:rPr>
              <a:t>conditions affect the stress </a:t>
            </a:r>
            <a:r>
              <a:rPr lang="en" sz="2200">
                <a:latin typeface="Instrument Sans"/>
                <a:ea typeface="Instrument Sans"/>
                <a:cs typeface="Instrument Sans"/>
                <a:sym typeface="Instrument Sans"/>
              </a:rPr>
              <a:t>response</a:t>
            </a:r>
            <a:r>
              <a:rPr lang="en" sz="2200">
                <a:latin typeface="Instrument Sans"/>
                <a:ea typeface="Instrument Sans"/>
                <a:cs typeface="Instrument Sans"/>
                <a:sym typeface="Instrument Sans"/>
              </a:rPr>
              <a:t> of native shore crabs </a:t>
            </a:r>
            <a:r>
              <a:rPr i="1" lang="en" sz="2200">
                <a:latin typeface="Instrument Sans"/>
                <a:ea typeface="Instrument Sans"/>
                <a:cs typeface="Instrument Sans"/>
                <a:sym typeface="Instrument Sans"/>
              </a:rPr>
              <a:t>Hemigrapsus oregonensis</a:t>
            </a:r>
            <a:r>
              <a:rPr lang="en" sz="2200">
                <a:latin typeface="Instrument Sans"/>
                <a:ea typeface="Instrument Sans"/>
                <a:cs typeface="Instrument Sans"/>
                <a:sym typeface="Instrument Sans"/>
              </a:rPr>
              <a:t>?</a:t>
            </a:r>
            <a:endParaRPr sz="2200">
              <a:latin typeface="Instrument Sans"/>
              <a:ea typeface="Instrument Sans"/>
              <a:cs typeface="Instrument Sans"/>
              <a:sym typeface="Instrumen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nvSpPr>
        <p:spPr>
          <a:xfrm>
            <a:off x="128350" y="102150"/>
            <a:ext cx="4350900" cy="12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latin typeface="Instrument Sans"/>
                <a:ea typeface="Instrument Sans"/>
                <a:cs typeface="Instrument Sans"/>
                <a:sym typeface="Instrument Sans"/>
              </a:rPr>
              <a:t>Experimental Design</a:t>
            </a:r>
            <a:endParaRPr sz="30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sz="1700">
              <a:solidFill>
                <a:schemeClr val="dk1"/>
              </a:solidFill>
              <a:latin typeface="Instrument Sans"/>
              <a:ea typeface="Instrument Sans"/>
              <a:cs typeface="Instrument Sans"/>
              <a:sym typeface="Instrument Sans"/>
            </a:endParaRPr>
          </a:p>
        </p:txBody>
      </p:sp>
      <p:pic>
        <p:nvPicPr>
          <p:cNvPr id="100" name="Google Shape;100;p17" title="IMG_5609.jpeg"/>
          <p:cNvPicPr preferRelativeResize="0"/>
          <p:nvPr/>
        </p:nvPicPr>
        <p:blipFill rotWithShape="1">
          <a:blip r:embed="rId3">
            <a:alphaModFix/>
          </a:blip>
          <a:srcRect b="28574" l="0" r="0" t="29274"/>
          <a:stretch/>
        </p:blipFill>
        <p:spPr>
          <a:xfrm>
            <a:off x="5145675" y="2139425"/>
            <a:ext cx="3629027" cy="2039675"/>
          </a:xfrm>
          <a:prstGeom prst="rect">
            <a:avLst/>
          </a:prstGeom>
          <a:noFill/>
          <a:ln>
            <a:noFill/>
          </a:ln>
        </p:spPr>
      </p:pic>
      <p:pic>
        <p:nvPicPr>
          <p:cNvPr id="101" name="Google Shape;101;p17"/>
          <p:cNvPicPr preferRelativeResize="0"/>
          <p:nvPr/>
        </p:nvPicPr>
        <p:blipFill>
          <a:blip r:embed="rId4">
            <a:alphaModFix/>
          </a:blip>
          <a:stretch>
            <a:fillRect/>
          </a:stretch>
        </p:blipFill>
        <p:spPr>
          <a:xfrm>
            <a:off x="347825" y="793311"/>
            <a:ext cx="4493325" cy="2900375"/>
          </a:xfrm>
          <a:prstGeom prst="rect">
            <a:avLst/>
          </a:prstGeom>
          <a:noFill/>
          <a:ln>
            <a:noFill/>
          </a:ln>
        </p:spPr>
      </p:pic>
      <p:sp>
        <p:nvSpPr>
          <p:cNvPr id="102" name="Google Shape;102;p17"/>
          <p:cNvSpPr txBox="1"/>
          <p:nvPr/>
        </p:nvSpPr>
        <p:spPr>
          <a:xfrm>
            <a:off x="1084500" y="3750875"/>
            <a:ext cx="6975000" cy="13236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Instrument Sans"/>
              <a:buChar char="➔"/>
            </a:pPr>
            <a:r>
              <a:rPr b="1" lang="en" sz="2300">
                <a:solidFill>
                  <a:schemeClr val="dk1"/>
                </a:solidFill>
                <a:latin typeface="Instrument Sans"/>
                <a:ea typeface="Instrument Sans"/>
                <a:cs typeface="Instrument Sans"/>
                <a:sym typeface="Instrument Sans"/>
              </a:rPr>
              <a:t>Variables</a:t>
            </a:r>
            <a:endParaRPr sz="2300">
              <a:solidFill>
                <a:schemeClr val="dk1"/>
              </a:solidFill>
              <a:latin typeface="Instrument Sans"/>
              <a:ea typeface="Instrument Sans"/>
              <a:cs typeface="Instrument Sans"/>
              <a:sym typeface="Instrument Sans"/>
            </a:endParaRPr>
          </a:p>
          <a:p>
            <a:pPr indent="-336550" lvl="1" marL="914400" rtl="0" algn="l">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Respiration</a:t>
            </a:r>
            <a:endParaRPr sz="1700">
              <a:solidFill>
                <a:schemeClr val="dk1"/>
              </a:solidFill>
              <a:latin typeface="Instrument Sans"/>
              <a:ea typeface="Instrument Sans"/>
              <a:cs typeface="Instrument Sans"/>
              <a:sym typeface="Instrument Sans"/>
            </a:endParaRPr>
          </a:p>
          <a:p>
            <a:pPr indent="-336550" lvl="1" marL="914400" rtl="0" algn="l">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Righting time (Schroeder-Spain et al. 2018)</a:t>
            </a:r>
            <a:endParaRPr sz="1700">
              <a:solidFill>
                <a:schemeClr val="dk1"/>
              </a:solidFill>
              <a:latin typeface="Instrument Sans"/>
              <a:ea typeface="Instrument Sans"/>
              <a:cs typeface="Instrument Sans"/>
              <a:sym typeface="Instrument Sans"/>
            </a:endParaRPr>
          </a:p>
          <a:p>
            <a:pPr indent="-336550" lvl="1" marL="914400" rtl="0" algn="l">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H</a:t>
            </a:r>
            <a:r>
              <a:rPr lang="en" sz="1700">
                <a:solidFill>
                  <a:schemeClr val="dk1"/>
                </a:solidFill>
                <a:latin typeface="Instrument Sans"/>
                <a:ea typeface="Instrument Sans"/>
                <a:cs typeface="Instrument Sans"/>
                <a:sym typeface="Instrument Sans"/>
              </a:rPr>
              <a:t>emolymph extraction → total protein assay </a:t>
            </a:r>
            <a:endParaRPr b="1" sz="1700">
              <a:solidFill>
                <a:schemeClr val="dk1"/>
              </a:solidFill>
              <a:latin typeface="Instrument Sans"/>
              <a:ea typeface="Instrument Sans"/>
              <a:cs typeface="Instrument Sans"/>
              <a:sym typeface="Instrument Sans"/>
            </a:endParaRPr>
          </a:p>
        </p:txBody>
      </p:sp>
      <p:pic>
        <p:nvPicPr>
          <p:cNvPr id="103" name="Google Shape;103;p17" title="Screenshot 2026-04-16 at 6.30.26 PM.png"/>
          <p:cNvPicPr preferRelativeResize="0"/>
          <p:nvPr/>
        </p:nvPicPr>
        <p:blipFill>
          <a:blip r:embed="rId5">
            <a:alphaModFix/>
          </a:blip>
          <a:stretch>
            <a:fillRect/>
          </a:stretch>
        </p:blipFill>
        <p:spPr>
          <a:xfrm>
            <a:off x="7284405" y="102150"/>
            <a:ext cx="1763925" cy="1387450"/>
          </a:xfrm>
          <a:prstGeom prst="rect">
            <a:avLst/>
          </a:prstGeom>
          <a:noFill/>
          <a:ln>
            <a:noFill/>
          </a:ln>
        </p:spPr>
      </p:pic>
      <p:sp>
        <p:nvSpPr>
          <p:cNvPr id="104" name="Google Shape;104;p17"/>
          <p:cNvSpPr/>
          <p:nvPr/>
        </p:nvSpPr>
        <p:spPr>
          <a:xfrm rot="1488540">
            <a:off x="7704053" y="1493677"/>
            <a:ext cx="354628" cy="565645"/>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5" name="Google Shape;105;p17"/>
          <p:cNvPicPr preferRelativeResize="0"/>
          <p:nvPr/>
        </p:nvPicPr>
        <p:blipFill rotWithShape="1">
          <a:blip r:embed="rId6">
            <a:alphaModFix/>
          </a:blip>
          <a:srcRect b="23760" l="7977" r="13892" t="18960"/>
          <a:stretch/>
        </p:blipFill>
        <p:spPr>
          <a:xfrm>
            <a:off x="5145675" y="178175"/>
            <a:ext cx="2138725" cy="1235401"/>
          </a:xfrm>
          <a:prstGeom prst="rect">
            <a:avLst/>
          </a:prstGeom>
          <a:noFill/>
          <a:ln>
            <a:noFill/>
          </a:ln>
        </p:spPr>
      </p:pic>
      <p:sp>
        <p:nvSpPr>
          <p:cNvPr id="106" name="Google Shape;106;p17"/>
          <p:cNvSpPr/>
          <p:nvPr/>
        </p:nvSpPr>
        <p:spPr>
          <a:xfrm rot="-605027">
            <a:off x="6099633" y="1493688"/>
            <a:ext cx="354679" cy="565638"/>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469100" y="320025"/>
            <a:ext cx="74982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Overall results</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sp>
        <p:nvSpPr>
          <p:cNvPr id="112" name="Google Shape;112;p18"/>
          <p:cNvSpPr/>
          <p:nvPr/>
        </p:nvSpPr>
        <p:spPr>
          <a:xfrm>
            <a:off x="5110225" y="284600"/>
            <a:ext cx="189300" cy="10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txBox="1"/>
          <p:nvPr/>
        </p:nvSpPr>
        <p:spPr>
          <a:xfrm>
            <a:off x="4314175" y="1723500"/>
            <a:ext cx="4166100" cy="1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chemeClr val="dk1"/>
                </a:solidFill>
                <a:latin typeface="Instrument Sans"/>
                <a:ea typeface="Instrument Sans"/>
                <a:cs typeface="Instrument Sans"/>
                <a:sym typeface="Instrument Sans"/>
              </a:rPr>
              <a:t>There was no </a:t>
            </a:r>
            <a:r>
              <a:rPr lang="en" sz="2600">
                <a:solidFill>
                  <a:schemeClr val="dk1"/>
                </a:solidFill>
                <a:latin typeface="Instrument Sans"/>
                <a:ea typeface="Instrument Sans"/>
                <a:cs typeface="Instrument Sans"/>
                <a:sym typeface="Instrument Sans"/>
              </a:rPr>
              <a:t>significant</a:t>
            </a:r>
            <a:r>
              <a:rPr lang="en" sz="2600">
                <a:solidFill>
                  <a:schemeClr val="dk1"/>
                </a:solidFill>
                <a:latin typeface="Instrument Sans"/>
                <a:ea typeface="Instrument Sans"/>
                <a:cs typeface="Instrument Sans"/>
                <a:sym typeface="Instrument Sans"/>
              </a:rPr>
              <a:t> difference is overall stress </a:t>
            </a:r>
            <a:r>
              <a:rPr lang="en" sz="2600">
                <a:solidFill>
                  <a:schemeClr val="dk1"/>
                </a:solidFill>
                <a:latin typeface="Instrument Sans"/>
                <a:ea typeface="Instrument Sans"/>
                <a:cs typeface="Instrument Sans"/>
                <a:sym typeface="Instrument Sans"/>
              </a:rPr>
              <a:t>response</a:t>
            </a:r>
            <a:r>
              <a:rPr lang="en" sz="2600">
                <a:solidFill>
                  <a:schemeClr val="dk1"/>
                </a:solidFill>
                <a:latin typeface="Instrument Sans"/>
                <a:ea typeface="Instrument Sans"/>
                <a:cs typeface="Instrument Sans"/>
                <a:sym typeface="Instrument Sans"/>
              </a:rPr>
              <a:t> across treatments.</a:t>
            </a:r>
            <a:endParaRPr sz="26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114" name="Google Shape;114;p18"/>
          <p:cNvPicPr preferRelativeResize="0"/>
          <p:nvPr/>
        </p:nvPicPr>
        <p:blipFill>
          <a:blip r:embed="rId3">
            <a:alphaModFix/>
          </a:blip>
          <a:stretch>
            <a:fillRect/>
          </a:stretch>
        </p:blipFill>
        <p:spPr>
          <a:xfrm>
            <a:off x="1230242" y="1223025"/>
            <a:ext cx="2377454" cy="31699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nvSpPr>
        <p:spPr>
          <a:xfrm>
            <a:off x="469100" y="320025"/>
            <a:ext cx="74982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Observations / Crab statuses</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pic>
        <p:nvPicPr>
          <p:cNvPr id="120" name="Google Shape;120;p19"/>
          <p:cNvPicPr preferRelativeResize="0"/>
          <p:nvPr/>
        </p:nvPicPr>
        <p:blipFill rotWithShape="1">
          <a:blip r:embed="rId3">
            <a:alphaModFix/>
          </a:blip>
          <a:srcRect b="4753" l="7284" r="1325" t="0"/>
          <a:stretch/>
        </p:blipFill>
        <p:spPr>
          <a:xfrm>
            <a:off x="4572000" y="992150"/>
            <a:ext cx="3984224" cy="2528825"/>
          </a:xfrm>
          <a:prstGeom prst="rect">
            <a:avLst/>
          </a:prstGeom>
          <a:noFill/>
          <a:ln>
            <a:noFill/>
          </a:ln>
        </p:spPr>
      </p:pic>
      <p:sp>
        <p:nvSpPr>
          <p:cNvPr id="121" name="Google Shape;121;p19"/>
          <p:cNvSpPr txBox="1"/>
          <p:nvPr/>
        </p:nvSpPr>
        <p:spPr>
          <a:xfrm>
            <a:off x="73775" y="943225"/>
            <a:ext cx="25911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Instrument Sans"/>
                <a:ea typeface="Instrument Sans"/>
                <a:cs typeface="Instrument Sans"/>
                <a:sym typeface="Instrument Sans"/>
              </a:rPr>
              <a:t>Molts: </a:t>
            </a:r>
            <a:r>
              <a:rPr b="1" lang="en">
                <a:solidFill>
                  <a:schemeClr val="dk1"/>
                </a:solidFill>
                <a:latin typeface="Instrument Sans"/>
                <a:ea typeface="Instrument Sans"/>
                <a:cs typeface="Instrument Sans"/>
                <a:sym typeface="Instrument Sans"/>
              </a:rPr>
              <a:t>10, 80</a:t>
            </a:r>
            <a:endParaRPr b="1">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a:solidFill>
                  <a:schemeClr val="dk1"/>
                </a:solidFill>
                <a:latin typeface="Instrument Sans"/>
                <a:ea typeface="Instrument Sans"/>
                <a:cs typeface="Instrument Sans"/>
                <a:sym typeface="Instrument Sans"/>
              </a:rPr>
              <a:t>Missing limbs: </a:t>
            </a:r>
            <a:r>
              <a:rPr b="1" lang="en">
                <a:solidFill>
                  <a:schemeClr val="dk1"/>
                </a:solidFill>
                <a:latin typeface="Instrument Sans"/>
                <a:ea typeface="Instrument Sans"/>
                <a:cs typeface="Instrument Sans"/>
                <a:sym typeface="Instrument Sans"/>
              </a:rPr>
              <a:t>10, 80</a:t>
            </a:r>
            <a:r>
              <a:rPr lang="en">
                <a:solidFill>
                  <a:schemeClr val="dk1"/>
                </a:solidFill>
                <a:latin typeface="Instrument Sans"/>
                <a:ea typeface="Instrument Sans"/>
                <a:cs typeface="Instrument Sans"/>
                <a:sym typeface="Instrument Sans"/>
              </a:rPr>
              <a:t>, 50</a:t>
            </a:r>
            <a:endParaRPr>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a:solidFill>
                  <a:schemeClr val="dk1"/>
                </a:solidFill>
                <a:latin typeface="Instrument Sans"/>
                <a:ea typeface="Instrument Sans"/>
                <a:cs typeface="Instrument Sans"/>
                <a:sym typeface="Instrument Sans"/>
              </a:rPr>
              <a:t>Mortalities: </a:t>
            </a:r>
            <a:r>
              <a:rPr b="1" lang="en">
                <a:solidFill>
                  <a:schemeClr val="dk1"/>
                </a:solidFill>
                <a:latin typeface="Instrument Sans"/>
                <a:ea typeface="Instrument Sans"/>
                <a:cs typeface="Instrument Sans"/>
                <a:sym typeface="Instrument Sans"/>
              </a:rPr>
              <a:t>80</a:t>
            </a:r>
            <a:r>
              <a:rPr lang="en">
                <a:solidFill>
                  <a:schemeClr val="dk1"/>
                </a:solidFill>
                <a:latin typeface="Instrument Sans"/>
                <a:ea typeface="Instrument Sans"/>
                <a:cs typeface="Instrument Sans"/>
                <a:sym typeface="Instrument Sans"/>
              </a:rPr>
              <a:t>, 50, </a:t>
            </a:r>
            <a:r>
              <a:rPr b="1" lang="en">
                <a:solidFill>
                  <a:schemeClr val="dk1"/>
                </a:solidFill>
                <a:highlight>
                  <a:srgbClr val="00FF00"/>
                </a:highlight>
                <a:latin typeface="Instrument Sans"/>
                <a:ea typeface="Instrument Sans"/>
                <a:cs typeface="Instrument Sans"/>
                <a:sym typeface="Instrument Sans"/>
              </a:rPr>
              <a:t>30</a:t>
            </a:r>
            <a:r>
              <a:rPr lang="en">
                <a:solidFill>
                  <a:schemeClr val="dk1"/>
                </a:solidFill>
                <a:latin typeface="Instrument Sans"/>
                <a:ea typeface="Instrument Sans"/>
                <a:cs typeface="Instrument Sans"/>
                <a:sym typeface="Instrument Sans"/>
              </a:rPr>
              <a:t>, </a:t>
            </a:r>
            <a:r>
              <a:rPr lang="en">
                <a:solidFill>
                  <a:schemeClr val="dk1"/>
                </a:solidFill>
                <a:highlight>
                  <a:srgbClr val="00FF00"/>
                </a:highlight>
                <a:latin typeface="Instrument Sans"/>
                <a:ea typeface="Instrument Sans"/>
                <a:cs typeface="Instrument Sans"/>
                <a:sym typeface="Instrument Sans"/>
              </a:rPr>
              <a:t>67</a:t>
            </a:r>
            <a:endParaRPr>
              <a:latin typeface="Instrument Sans"/>
              <a:ea typeface="Instrument Sans"/>
              <a:cs typeface="Instrument Sans"/>
              <a:sym typeface="Instrument Sans"/>
            </a:endParaRPr>
          </a:p>
        </p:txBody>
      </p:sp>
      <p:sp>
        <p:nvSpPr>
          <p:cNvPr id="122" name="Google Shape;122;p19"/>
          <p:cNvSpPr txBox="1"/>
          <p:nvPr/>
        </p:nvSpPr>
        <p:spPr>
          <a:xfrm>
            <a:off x="4202850" y="3671025"/>
            <a:ext cx="3000000" cy="12552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0"/>
              </a:spcBef>
              <a:spcAft>
                <a:spcPts val="0"/>
              </a:spcAft>
              <a:buNone/>
            </a:pPr>
            <a:r>
              <a:rPr lang="en" sz="1300">
                <a:solidFill>
                  <a:schemeClr val="dk1"/>
                </a:solidFill>
                <a:latin typeface="Instrument Sans"/>
                <a:ea typeface="Instrument Sans"/>
                <a:cs typeface="Instrument Sans"/>
                <a:sym typeface="Instrument Sans"/>
              </a:rPr>
              <a:t>Mortalities by Lab:</a:t>
            </a:r>
            <a:endParaRPr sz="1300">
              <a:solidFill>
                <a:schemeClr val="dk1"/>
              </a:solidFill>
              <a:latin typeface="Instrument Sans"/>
              <a:ea typeface="Instrument Sans"/>
              <a:cs typeface="Instrument Sans"/>
              <a:sym typeface="Instrument Sans"/>
            </a:endParaRPr>
          </a:p>
          <a:p>
            <a:pPr indent="0" lvl="0" marL="0" rtl="0" algn="l">
              <a:lnSpc>
                <a:spcPct val="145000"/>
              </a:lnSpc>
              <a:spcBef>
                <a:spcPts val="0"/>
              </a:spcBef>
              <a:spcAft>
                <a:spcPts val="0"/>
              </a:spcAft>
              <a:buNone/>
            </a:pPr>
            <a:r>
              <a:rPr lang="en" sz="1300">
                <a:solidFill>
                  <a:schemeClr val="dk1"/>
                </a:solidFill>
                <a:latin typeface="Instrument Sans"/>
                <a:ea typeface="Instrument Sans"/>
                <a:cs typeface="Instrument Sans"/>
                <a:sym typeface="Instrument Sans"/>
              </a:rPr>
              <a:t>Week 1: Wire trap + EGC (x1)</a:t>
            </a:r>
            <a:endParaRPr sz="1300">
              <a:solidFill>
                <a:schemeClr val="dk1"/>
              </a:solidFill>
              <a:latin typeface="Instrument Sans"/>
              <a:ea typeface="Instrument Sans"/>
              <a:cs typeface="Instrument Sans"/>
              <a:sym typeface="Instrument Sans"/>
            </a:endParaRPr>
          </a:p>
          <a:p>
            <a:pPr indent="0" lvl="0" marL="0" rtl="0" algn="l">
              <a:lnSpc>
                <a:spcPct val="145000"/>
              </a:lnSpc>
              <a:spcBef>
                <a:spcPts val="0"/>
              </a:spcBef>
              <a:spcAft>
                <a:spcPts val="0"/>
              </a:spcAft>
              <a:buNone/>
            </a:pPr>
            <a:r>
              <a:rPr lang="en" sz="1300">
                <a:solidFill>
                  <a:schemeClr val="dk1"/>
                </a:solidFill>
                <a:latin typeface="Instrument Sans"/>
                <a:ea typeface="Instrument Sans"/>
                <a:cs typeface="Instrument Sans"/>
                <a:sym typeface="Instrument Sans"/>
              </a:rPr>
              <a:t>Week 2: Crab slab + EGC (x1)</a:t>
            </a:r>
            <a:endParaRPr sz="1300">
              <a:solidFill>
                <a:schemeClr val="dk1"/>
              </a:solidFill>
              <a:latin typeface="Instrument Sans"/>
              <a:ea typeface="Instrument Sans"/>
              <a:cs typeface="Instrument Sans"/>
              <a:sym typeface="Instrument Sans"/>
            </a:endParaRPr>
          </a:p>
          <a:p>
            <a:pPr indent="0" lvl="0" marL="0" rtl="0" algn="l">
              <a:lnSpc>
                <a:spcPct val="145000"/>
              </a:lnSpc>
              <a:spcBef>
                <a:spcPts val="0"/>
              </a:spcBef>
              <a:spcAft>
                <a:spcPts val="0"/>
              </a:spcAft>
              <a:buNone/>
            </a:pPr>
            <a:r>
              <a:rPr lang="en" sz="1300">
                <a:solidFill>
                  <a:schemeClr val="dk1"/>
                </a:solidFill>
                <a:latin typeface="Instrument Sans"/>
                <a:ea typeface="Instrument Sans"/>
                <a:cs typeface="Instrument Sans"/>
                <a:sym typeface="Instrument Sans"/>
              </a:rPr>
              <a:t>Week 3: Crab slab, Wire trap (x2)</a:t>
            </a:r>
            <a:endParaRPr sz="1500">
              <a:latin typeface="Instrument Sans"/>
              <a:ea typeface="Instrument Sans"/>
              <a:cs typeface="Instrument Sans"/>
              <a:sym typeface="Instrument Sans"/>
            </a:endParaRPr>
          </a:p>
        </p:txBody>
      </p:sp>
      <p:pic>
        <p:nvPicPr>
          <p:cNvPr id="123" name="Google Shape;123;p19"/>
          <p:cNvPicPr preferRelativeResize="0"/>
          <p:nvPr/>
        </p:nvPicPr>
        <p:blipFill rotWithShape="1">
          <a:blip r:embed="rId4">
            <a:alphaModFix/>
          </a:blip>
          <a:srcRect b="23415" l="11614" r="5959" t="14492"/>
          <a:stretch/>
        </p:blipFill>
        <p:spPr>
          <a:xfrm>
            <a:off x="1059150" y="1954975"/>
            <a:ext cx="2999997" cy="3013184"/>
          </a:xfrm>
          <a:prstGeom prst="rect">
            <a:avLst/>
          </a:prstGeom>
          <a:noFill/>
          <a:ln>
            <a:noFill/>
          </a:ln>
        </p:spPr>
      </p:pic>
      <p:pic>
        <p:nvPicPr>
          <p:cNvPr id="124" name="Google Shape;124;p19" title="Screenshot 2026-06-02 at 11.30.02 AM.png"/>
          <p:cNvPicPr preferRelativeResize="0"/>
          <p:nvPr/>
        </p:nvPicPr>
        <p:blipFill>
          <a:blip r:embed="rId5">
            <a:alphaModFix/>
          </a:blip>
          <a:stretch>
            <a:fillRect/>
          </a:stretch>
        </p:blipFill>
        <p:spPr>
          <a:xfrm>
            <a:off x="6911750" y="3609652"/>
            <a:ext cx="1976100" cy="1449450"/>
          </a:xfrm>
          <a:prstGeom prst="rect">
            <a:avLst/>
          </a:prstGeom>
          <a:noFill/>
          <a:ln>
            <a:noFill/>
          </a:ln>
        </p:spPr>
      </p:pic>
      <p:sp>
        <p:nvSpPr>
          <p:cNvPr id="125" name="Google Shape;125;p19"/>
          <p:cNvSpPr txBox="1"/>
          <p:nvPr/>
        </p:nvSpPr>
        <p:spPr>
          <a:xfrm>
            <a:off x="2324975" y="1044775"/>
            <a:ext cx="21690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latin typeface="Instrument Sans"/>
                <a:ea typeface="Instrument Sans"/>
                <a:cs typeface="Instrument Sans"/>
                <a:sym typeface="Instrument Sans"/>
              </a:rPr>
              <a:t>R</a:t>
            </a:r>
            <a:r>
              <a:rPr lang="en" sz="1000">
                <a:solidFill>
                  <a:schemeClr val="dk1"/>
                </a:solidFill>
                <a:latin typeface="Instrument Sans"/>
                <a:ea typeface="Instrument Sans"/>
                <a:cs typeface="Instrument Sans"/>
                <a:sym typeface="Instrument Sans"/>
              </a:rPr>
              <a:t>eplacements:</a:t>
            </a:r>
            <a:endParaRPr sz="1000">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000">
                <a:solidFill>
                  <a:schemeClr val="dk1"/>
                </a:solidFill>
                <a:latin typeface="Instrument Sans"/>
                <a:ea typeface="Instrument Sans"/>
                <a:cs typeface="Instrument Sans"/>
                <a:sym typeface="Instrument Sans"/>
              </a:rPr>
              <a:t>67: nudus 3.84g -&gt; 99: nudus 4.74g</a:t>
            </a:r>
            <a:endParaRPr sz="1000">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000">
                <a:solidFill>
                  <a:schemeClr val="dk1"/>
                </a:solidFill>
                <a:latin typeface="Instrument Sans"/>
                <a:ea typeface="Instrument Sans"/>
                <a:cs typeface="Instrument Sans"/>
                <a:sym typeface="Instrument Sans"/>
              </a:rPr>
              <a:t>50: nudus 3.78g -&gt; 21: nudus 1.91g</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nvSpPr>
        <p:spPr>
          <a:xfrm>
            <a:off x="469100" y="320025"/>
            <a:ext cx="74982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Righting time </a:t>
            </a:r>
            <a:r>
              <a:rPr b="1" lang="en" sz="3200">
                <a:solidFill>
                  <a:schemeClr val="dk1"/>
                </a:solidFill>
                <a:latin typeface="Instrument Sans"/>
                <a:ea typeface="Instrument Sans"/>
                <a:cs typeface="Instrument Sans"/>
                <a:sym typeface="Instrument Sans"/>
              </a:rPr>
              <a:t>results</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sp>
        <p:nvSpPr>
          <p:cNvPr id="131" name="Google Shape;131;p20"/>
          <p:cNvSpPr/>
          <p:nvPr/>
        </p:nvSpPr>
        <p:spPr>
          <a:xfrm>
            <a:off x="5110225" y="284600"/>
            <a:ext cx="189300" cy="10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2" name="Google Shape;132;p20"/>
          <p:cNvPicPr preferRelativeResize="0"/>
          <p:nvPr/>
        </p:nvPicPr>
        <p:blipFill>
          <a:blip r:embed="rId3">
            <a:alphaModFix/>
          </a:blip>
          <a:stretch>
            <a:fillRect/>
          </a:stretch>
        </p:blipFill>
        <p:spPr>
          <a:xfrm>
            <a:off x="266450" y="1255575"/>
            <a:ext cx="4754175" cy="2933425"/>
          </a:xfrm>
          <a:prstGeom prst="rect">
            <a:avLst/>
          </a:prstGeom>
          <a:noFill/>
          <a:ln>
            <a:noFill/>
          </a:ln>
        </p:spPr>
      </p:pic>
      <p:sp>
        <p:nvSpPr>
          <p:cNvPr id="133" name="Google Shape;133;p20"/>
          <p:cNvSpPr txBox="1"/>
          <p:nvPr/>
        </p:nvSpPr>
        <p:spPr>
          <a:xfrm>
            <a:off x="4943175" y="451975"/>
            <a:ext cx="4144500" cy="154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highlight>
                  <a:srgbClr val="FFFFFF"/>
                </a:highlight>
                <a:latin typeface="Instrument Sans"/>
                <a:ea typeface="Instrument Sans"/>
                <a:cs typeface="Instrument Sans"/>
                <a:sym typeface="Instrument Sans"/>
              </a:rPr>
              <a:t>Kruskal-Wallis by treatment: p-value = </a:t>
            </a:r>
            <a:r>
              <a:rPr b="1" lang="en" sz="1200">
                <a:solidFill>
                  <a:schemeClr val="dk1"/>
                </a:solidFill>
                <a:highlight>
                  <a:srgbClr val="FFFFFF"/>
                </a:highlight>
                <a:latin typeface="Instrument Sans"/>
                <a:ea typeface="Instrument Sans"/>
                <a:cs typeface="Instrument Sans"/>
                <a:sym typeface="Instrument Sans"/>
              </a:rPr>
              <a:t>0.4704</a:t>
            </a:r>
            <a:endParaRPr sz="1200">
              <a:solidFill>
                <a:schemeClr val="dk1"/>
              </a:solidFill>
              <a:highlight>
                <a:srgbClr val="FFFFFF"/>
              </a:highlight>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200">
                <a:solidFill>
                  <a:schemeClr val="dk1"/>
                </a:solidFill>
                <a:highlight>
                  <a:srgbClr val="FFFFFF"/>
                </a:highlight>
                <a:latin typeface="Instrument Sans"/>
                <a:ea typeface="Instrument Sans"/>
                <a:cs typeface="Instrument Sans"/>
                <a:sym typeface="Instrument Sans"/>
              </a:rPr>
              <a:t>By time and treatment: p-value 0.1143</a:t>
            </a:r>
            <a:endParaRPr sz="1200">
              <a:solidFill>
                <a:schemeClr val="dk1"/>
              </a:solidFill>
              <a:highlight>
                <a:srgbClr val="FFFFFF"/>
              </a:highlight>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200">
                <a:solidFill>
                  <a:schemeClr val="dk1"/>
                </a:solidFill>
                <a:highlight>
                  <a:srgbClr val="FFFFFF"/>
                </a:highlight>
                <a:latin typeface="Instrument Sans"/>
                <a:ea typeface="Instrument Sans"/>
                <a:cs typeface="Instrument Sans"/>
                <a:sym typeface="Instrument Sans"/>
              </a:rPr>
              <a:t>W/o outlier of (20 secs) by treatment: p-value = 0.2588</a:t>
            </a:r>
            <a:endParaRPr b="1" sz="1200">
              <a:solidFill>
                <a:schemeClr val="dk1"/>
              </a:solidFill>
              <a:highlight>
                <a:srgbClr val="FFFFFF"/>
              </a:highlight>
              <a:latin typeface="Instrument Sans"/>
              <a:ea typeface="Instrument Sans"/>
              <a:cs typeface="Instrument Sans"/>
              <a:sym typeface="Instrument Sans"/>
            </a:endParaRPr>
          </a:p>
          <a:p>
            <a:pPr indent="0" lvl="0" marL="0" rtl="0" algn="l">
              <a:lnSpc>
                <a:spcPct val="145000"/>
              </a:lnSpc>
              <a:spcBef>
                <a:spcPts val="0"/>
              </a:spcBef>
              <a:spcAft>
                <a:spcPts val="0"/>
              </a:spcAft>
              <a:buNone/>
            </a:pPr>
            <a:r>
              <a:t/>
            </a:r>
            <a:endParaRPr sz="1200">
              <a:solidFill>
                <a:schemeClr val="dk1"/>
              </a:solidFill>
              <a:latin typeface="Instrument Sans"/>
              <a:ea typeface="Instrument Sans"/>
              <a:cs typeface="Instrument Sans"/>
              <a:sym typeface="Instrument Sans"/>
            </a:endParaRPr>
          </a:p>
          <a:p>
            <a:pPr indent="0" lvl="0" marL="0" rtl="0" algn="l">
              <a:lnSpc>
                <a:spcPct val="145000"/>
              </a:lnSpc>
              <a:spcBef>
                <a:spcPts val="0"/>
              </a:spcBef>
              <a:spcAft>
                <a:spcPts val="0"/>
              </a:spcAft>
              <a:buNone/>
            </a:pPr>
            <a:r>
              <a:rPr lang="en" sz="1200">
                <a:solidFill>
                  <a:schemeClr val="dk1"/>
                </a:solidFill>
                <a:latin typeface="Instrument Sans"/>
                <a:ea typeface="Instrument Sans"/>
                <a:cs typeface="Instrument Sans"/>
                <a:sym typeface="Instrument Sans"/>
              </a:rPr>
              <a:t>Important to note: gaps in righting time data due to mortalities and replacements</a:t>
            </a:r>
            <a:endParaRPr sz="1200">
              <a:solidFill>
                <a:schemeClr val="dk1"/>
              </a:solidFill>
              <a:latin typeface="Instrument Sans"/>
              <a:ea typeface="Instrument Sans"/>
              <a:cs typeface="Instrument Sans"/>
              <a:sym typeface="Instrument Sans"/>
            </a:endParaRPr>
          </a:p>
        </p:txBody>
      </p:sp>
      <p:pic>
        <p:nvPicPr>
          <p:cNvPr id="134" name="Google Shape;134;p20"/>
          <p:cNvPicPr preferRelativeResize="0"/>
          <p:nvPr/>
        </p:nvPicPr>
        <p:blipFill>
          <a:blip r:embed="rId4">
            <a:alphaModFix/>
          </a:blip>
          <a:stretch>
            <a:fillRect/>
          </a:stretch>
        </p:blipFill>
        <p:spPr>
          <a:xfrm>
            <a:off x="5107050" y="2109375"/>
            <a:ext cx="3851502" cy="2888626"/>
          </a:xfrm>
          <a:prstGeom prst="rect">
            <a:avLst/>
          </a:prstGeom>
          <a:noFill/>
          <a:ln>
            <a:noFill/>
          </a:ln>
        </p:spPr>
      </p:pic>
      <p:sp>
        <p:nvSpPr>
          <p:cNvPr id="135" name="Google Shape;135;p20"/>
          <p:cNvSpPr txBox="1"/>
          <p:nvPr/>
        </p:nvSpPr>
        <p:spPr>
          <a:xfrm>
            <a:off x="5229625" y="4314775"/>
            <a:ext cx="2418000" cy="5541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0"/>
              </a:spcBef>
              <a:spcAft>
                <a:spcPts val="0"/>
              </a:spcAft>
              <a:buNone/>
            </a:pPr>
            <a:r>
              <a:rPr b="1" lang="en" sz="2400">
                <a:solidFill>
                  <a:schemeClr val="dk1"/>
                </a:solidFill>
                <a:latin typeface="Instrument Sans"/>
                <a:ea typeface="Instrument Sans"/>
                <a:cs typeface="Instrument Sans"/>
                <a:sym typeface="Instrument Sans"/>
              </a:rPr>
              <a:t>8.24 seconds !!</a:t>
            </a:r>
            <a:r>
              <a:rPr b="1" lang="en" sz="2400">
                <a:solidFill>
                  <a:schemeClr val="dk1"/>
                </a:solidFill>
                <a:latin typeface="Instrument Sans"/>
                <a:ea typeface="Instrument Sans"/>
                <a:cs typeface="Instrument Sans"/>
                <a:sym typeface="Instrument Sans"/>
              </a:rPr>
              <a:t> </a:t>
            </a:r>
            <a:endParaRPr b="1" sz="2400">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nvSpPr>
        <p:spPr>
          <a:xfrm>
            <a:off x="125975" y="320025"/>
            <a:ext cx="78414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Respiration</a:t>
            </a:r>
            <a:r>
              <a:rPr b="1" lang="en" sz="3200">
                <a:solidFill>
                  <a:schemeClr val="dk1"/>
                </a:solidFill>
                <a:latin typeface="Instrument Sans"/>
                <a:ea typeface="Instrument Sans"/>
                <a:cs typeface="Instrument Sans"/>
                <a:sym typeface="Instrument Sans"/>
              </a:rPr>
              <a:t> results</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Instrument Sans"/>
              <a:ea typeface="Instrument Sans"/>
              <a:cs typeface="Instrument Sans"/>
              <a:sym typeface="Instrument Sans"/>
            </a:endParaRPr>
          </a:p>
        </p:txBody>
      </p:sp>
      <p:sp>
        <p:nvSpPr>
          <p:cNvPr id="141" name="Google Shape;141;p21"/>
          <p:cNvSpPr/>
          <p:nvPr/>
        </p:nvSpPr>
        <p:spPr>
          <a:xfrm>
            <a:off x="5110225" y="284600"/>
            <a:ext cx="189300" cy="10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1"/>
          <p:cNvSpPr txBox="1"/>
          <p:nvPr/>
        </p:nvSpPr>
        <p:spPr>
          <a:xfrm>
            <a:off x="177375" y="1120513"/>
            <a:ext cx="3486900" cy="317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No significant difference across treatments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Font typeface="Instrument Sans"/>
              <a:buChar char="➔"/>
            </a:pPr>
            <a:r>
              <a:rPr b="1" lang="en" sz="1700">
                <a:solidFill>
                  <a:schemeClr val="dk1"/>
                </a:solidFill>
                <a:latin typeface="Instrument Sans"/>
                <a:ea typeface="Instrument Sans"/>
                <a:cs typeface="Instrument Sans"/>
                <a:sym typeface="Instrument Sans"/>
              </a:rPr>
              <a:t>p = 0.467</a:t>
            </a:r>
            <a:endParaRPr b="1" sz="17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latin typeface="Instrument Sans"/>
                <a:ea typeface="Instrument Sans"/>
                <a:cs typeface="Instrument Sans"/>
                <a:sym typeface="Instrument Sans"/>
              </a:rPr>
              <a:t>Difference in respiration per treatment (t60 - t0) across all three weeks </a:t>
            </a:r>
            <a:endParaRPr sz="17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sz="1800">
              <a:solidFill>
                <a:schemeClr val="dk1"/>
              </a:solidFill>
            </a:endParaRPr>
          </a:p>
        </p:txBody>
      </p:sp>
      <p:pic>
        <p:nvPicPr>
          <p:cNvPr id="143" name="Google Shape;143;p21"/>
          <p:cNvPicPr preferRelativeResize="0"/>
          <p:nvPr/>
        </p:nvPicPr>
        <p:blipFill>
          <a:blip r:embed="rId3">
            <a:alphaModFix/>
          </a:blip>
          <a:stretch>
            <a:fillRect/>
          </a:stretch>
        </p:blipFill>
        <p:spPr>
          <a:xfrm>
            <a:off x="3954368" y="446575"/>
            <a:ext cx="5176025" cy="4527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2"/>
          <p:cNvPicPr preferRelativeResize="0"/>
          <p:nvPr/>
        </p:nvPicPr>
        <p:blipFill>
          <a:blip r:embed="rId3">
            <a:alphaModFix/>
          </a:blip>
          <a:stretch>
            <a:fillRect/>
          </a:stretch>
        </p:blipFill>
        <p:spPr>
          <a:xfrm>
            <a:off x="3802200" y="843262"/>
            <a:ext cx="5341800" cy="3456975"/>
          </a:xfrm>
          <a:prstGeom prst="rect">
            <a:avLst/>
          </a:prstGeom>
          <a:noFill/>
          <a:ln>
            <a:noFill/>
          </a:ln>
        </p:spPr>
      </p:pic>
      <p:sp>
        <p:nvSpPr>
          <p:cNvPr id="149" name="Google Shape;149;p22"/>
          <p:cNvSpPr txBox="1"/>
          <p:nvPr/>
        </p:nvSpPr>
        <p:spPr>
          <a:xfrm>
            <a:off x="343050" y="221725"/>
            <a:ext cx="8457900" cy="8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Protein Levels </a:t>
            </a:r>
            <a:endParaRPr sz="1800">
              <a:solidFill>
                <a:schemeClr val="dk2"/>
              </a:solidFill>
            </a:endParaRPr>
          </a:p>
        </p:txBody>
      </p:sp>
      <p:sp>
        <p:nvSpPr>
          <p:cNvPr id="150" name="Google Shape;150;p22"/>
          <p:cNvSpPr txBox="1"/>
          <p:nvPr/>
        </p:nvSpPr>
        <p:spPr>
          <a:xfrm>
            <a:off x="3885976" y="4243350"/>
            <a:ext cx="5341800" cy="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Instrument Sans"/>
                <a:ea typeface="Instrument Sans"/>
                <a:cs typeface="Instrument Sans"/>
                <a:sym typeface="Instrument Sans"/>
              </a:rPr>
              <a:t>This figure shows protein absorbance from hemolymph extractions over the different treatments. Colors represent different assay types. Each combination of two assay types shows individual crabs. Overflows were omitted from the data and considered to be N/A. P-value = 0.838</a:t>
            </a:r>
            <a:endParaRPr sz="1200">
              <a:latin typeface="Instrument Sans"/>
              <a:ea typeface="Instrument Sans"/>
              <a:cs typeface="Instrument Sans"/>
              <a:sym typeface="Instrument Sans"/>
            </a:endParaRPr>
          </a:p>
        </p:txBody>
      </p:sp>
      <p:sp>
        <p:nvSpPr>
          <p:cNvPr id="151" name="Google Shape;151;p22"/>
          <p:cNvSpPr txBox="1"/>
          <p:nvPr/>
        </p:nvSpPr>
        <p:spPr>
          <a:xfrm>
            <a:off x="177375" y="1120513"/>
            <a:ext cx="3486900" cy="31797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From hemolymph extraction</a:t>
            </a:r>
            <a:endParaRPr sz="17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Not enough data to predict correlations</a:t>
            </a:r>
            <a:endParaRPr sz="1700">
              <a:solidFill>
                <a:schemeClr val="dk1"/>
              </a:solidFill>
              <a:latin typeface="Instrument Sans"/>
              <a:ea typeface="Instrument Sans"/>
              <a:cs typeface="Instrument Sans"/>
              <a:sym typeface="Instrument Sans"/>
            </a:endParaRPr>
          </a:p>
          <a:p>
            <a:pPr indent="0" lvl="0" marL="457200" rtl="0" algn="l">
              <a:lnSpc>
                <a:spcPct val="100000"/>
              </a:lnSpc>
              <a:spcBef>
                <a:spcPts val="0"/>
              </a:spcBef>
              <a:spcAft>
                <a:spcPts val="0"/>
              </a:spcAft>
              <a:buNone/>
            </a:pPr>
            <a:r>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Font typeface="Instrument Sans"/>
              <a:buChar char="➔"/>
            </a:pPr>
            <a:r>
              <a:rPr lang="en" sz="1700">
                <a:solidFill>
                  <a:schemeClr val="dk1"/>
                </a:solidFill>
                <a:latin typeface="Instrument Sans"/>
                <a:ea typeface="Instrument Sans"/>
                <a:cs typeface="Instrument Sans"/>
                <a:sym typeface="Instrument Sans"/>
              </a:rPr>
              <a:t>Similarity between protein levels across predator treatments </a:t>
            </a:r>
            <a:endParaRPr sz="17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rPr lang="en" sz="1700">
                <a:solidFill>
                  <a:schemeClr val="dk1"/>
                </a:solidFill>
                <a:latin typeface="Instrument Sans"/>
                <a:ea typeface="Instrument Sans"/>
                <a:cs typeface="Instrument Sans"/>
                <a:sym typeface="Instrument Sans"/>
              </a:rPr>
              <a:t> </a:t>
            </a:r>
            <a:endParaRPr sz="1700">
              <a:solidFill>
                <a:schemeClr val="dk1"/>
              </a:solidFill>
              <a:latin typeface="Instrument Sans"/>
              <a:ea typeface="Instrument Sans"/>
              <a:cs typeface="Instrument Sans"/>
              <a:sym typeface="Instrument Sans"/>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latin typeface="Instrument Sans"/>
                <a:ea typeface="Instrument Sans"/>
                <a:cs typeface="Instrument Sans"/>
                <a:sym typeface="Instrument Sans"/>
              </a:rPr>
              <a:t>Possible that it was skewed by starvation (Mente et al., 2010)</a:t>
            </a:r>
            <a:endParaRPr sz="17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nvSpPr>
        <p:spPr>
          <a:xfrm>
            <a:off x="469100" y="320025"/>
            <a:ext cx="7498200" cy="38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Application</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b="1" sz="3300">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Clr>
                <a:schemeClr val="dk1"/>
              </a:buClr>
              <a:buSzPts val="1100"/>
              <a:buFont typeface="Arial"/>
              <a:buNone/>
            </a:pPr>
            <a:r>
              <a:rPr lang="en" sz="2300">
                <a:solidFill>
                  <a:schemeClr val="dk1"/>
                </a:solidFill>
                <a:latin typeface="Instrument Sans"/>
                <a:ea typeface="Instrument Sans"/>
                <a:cs typeface="Instrument Sans"/>
                <a:sym typeface="Instrument Sans"/>
              </a:rPr>
              <a:t>Aids in the capture and removal efforts of green crabs in the PNW by </a:t>
            </a:r>
            <a:r>
              <a:rPr lang="en" sz="2300">
                <a:solidFill>
                  <a:schemeClr val="dk1"/>
                </a:solidFill>
                <a:latin typeface="Instrument Sans"/>
                <a:ea typeface="Instrument Sans"/>
                <a:cs typeface="Instrument Sans"/>
                <a:sym typeface="Instrument Sans"/>
              </a:rPr>
              <a:t>better</a:t>
            </a:r>
            <a:r>
              <a:rPr lang="en" sz="2300">
                <a:solidFill>
                  <a:schemeClr val="dk1"/>
                </a:solidFill>
                <a:latin typeface="Instrument Sans"/>
                <a:ea typeface="Instrument Sans"/>
                <a:cs typeface="Instrument Sans"/>
                <a:sym typeface="Instrument Sans"/>
              </a:rPr>
              <a:t> understanding how these efforts are affecting native species. </a:t>
            </a:r>
            <a:endParaRPr sz="2300">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Clr>
                <a:schemeClr val="dk1"/>
              </a:buClr>
              <a:buSzPts val="1100"/>
              <a:buFont typeface="Arial"/>
              <a:buNone/>
            </a:pPr>
            <a:r>
              <a:t/>
            </a:r>
            <a:endParaRPr sz="2300">
              <a:solidFill>
                <a:schemeClr val="dk1"/>
              </a:solidFill>
              <a:latin typeface="Instrument Sans"/>
              <a:ea typeface="Instrument Sans"/>
              <a:cs typeface="Instrument Sans"/>
              <a:sym typeface="Instrument Sans"/>
            </a:endParaRPr>
          </a:p>
          <a:p>
            <a:pPr indent="0" lvl="0" marL="0" rtl="0" algn="l">
              <a:lnSpc>
                <a:spcPct val="115000"/>
              </a:lnSpc>
              <a:spcBef>
                <a:spcPts val="0"/>
              </a:spcBef>
              <a:spcAft>
                <a:spcPts val="0"/>
              </a:spcAft>
              <a:buClr>
                <a:schemeClr val="dk1"/>
              </a:buClr>
              <a:buSzPts val="1100"/>
              <a:buFont typeface="Arial"/>
              <a:buNone/>
            </a:pPr>
            <a:r>
              <a:rPr lang="en" sz="2300">
                <a:solidFill>
                  <a:schemeClr val="dk1"/>
                </a:solidFill>
                <a:latin typeface="Instrument Sans"/>
                <a:ea typeface="Instrument Sans"/>
                <a:cs typeface="Instrument Sans"/>
                <a:sym typeface="Instrument Sans"/>
              </a:rPr>
              <a:t>Decreasing excess stress on native crabs is </a:t>
            </a:r>
            <a:r>
              <a:rPr lang="en" sz="2300">
                <a:solidFill>
                  <a:schemeClr val="dk1"/>
                </a:solidFill>
                <a:latin typeface="Instrument Sans"/>
                <a:ea typeface="Instrument Sans"/>
                <a:cs typeface="Instrument Sans"/>
                <a:sym typeface="Instrument Sans"/>
              </a:rPr>
              <a:t>beneficial</a:t>
            </a:r>
            <a:r>
              <a:rPr lang="en" sz="2300">
                <a:solidFill>
                  <a:schemeClr val="dk1"/>
                </a:solidFill>
                <a:latin typeface="Instrument Sans"/>
                <a:ea typeface="Instrument Sans"/>
                <a:cs typeface="Instrument Sans"/>
                <a:sym typeface="Instrument Sans"/>
              </a:rPr>
              <a:t> to decreasing the anthropogenic side effects of green crab removal efforts.</a:t>
            </a:r>
            <a:endParaRPr sz="2300">
              <a:solidFill>
                <a:schemeClr val="dk1"/>
              </a:solidFill>
              <a:latin typeface="Instrument Sans"/>
              <a:ea typeface="Instrument Sans"/>
              <a:cs typeface="Instrument Sans"/>
              <a:sym typeface="Instrumen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nvSpPr>
        <p:spPr>
          <a:xfrm>
            <a:off x="343050" y="221725"/>
            <a:ext cx="8457900" cy="8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dk1"/>
                </a:solidFill>
                <a:latin typeface="Instrument Sans"/>
                <a:ea typeface="Instrument Sans"/>
                <a:cs typeface="Instrument Sans"/>
                <a:sym typeface="Instrument Sans"/>
              </a:rPr>
              <a:t>Future Directions </a:t>
            </a:r>
            <a:endParaRPr sz="2300">
              <a:solidFill>
                <a:schemeClr val="dk2"/>
              </a:solidFill>
            </a:endParaRPr>
          </a:p>
        </p:txBody>
      </p:sp>
      <p:sp>
        <p:nvSpPr>
          <p:cNvPr id="162" name="Google Shape;162;p24"/>
          <p:cNvSpPr txBox="1"/>
          <p:nvPr/>
        </p:nvSpPr>
        <p:spPr>
          <a:xfrm>
            <a:off x="343050" y="1240100"/>
            <a:ext cx="8457900" cy="31797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chemeClr val="dk1"/>
              </a:buClr>
              <a:buSzPts val="2400"/>
              <a:buChar char="➔"/>
            </a:pPr>
            <a:r>
              <a:rPr lang="en" sz="2400">
                <a:solidFill>
                  <a:schemeClr val="dk1"/>
                </a:solidFill>
                <a:latin typeface="Instrument Sans"/>
                <a:ea typeface="Instrument Sans"/>
                <a:cs typeface="Instrument Sans"/>
                <a:sym typeface="Instrument Sans"/>
              </a:rPr>
              <a:t>Running </a:t>
            </a:r>
            <a:r>
              <a:rPr lang="en" sz="2400">
                <a:solidFill>
                  <a:schemeClr val="dk1"/>
                </a:solidFill>
                <a:latin typeface="Instrument Sans"/>
                <a:ea typeface="Instrument Sans"/>
                <a:cs typeface="Instrument Sans"/>
                <a:sym typeface="Instrument Sans"/>
              </a:rPr>
              <a:t>trials</a:t>
            </a:r>
            <a:r>
              <a:rPr lang="en" sz="2400">
                <a:solidFill>
                  <a:schemeClr val="dk1"/>
                </a:solidFill>
                <a:latin typeface="Instrument Sans"/>
                <a:ea typeface="Instrument Sans"/>
                <a:cs typeface="Instrument Sans"/>
                <a:sym typeface="Instrument Sans"/>
              </a:rPr>
              <a:t> in real traps </a:t>
            </a:r>
            <a:endParaRPr sz="2400">
              <a:solidFill>
                <a:schemeClr val="dk1"/>
              </a:solidFill>
              <a:latin typeface="Instrument Sans"/>
              <a:ea typeface="Instrument Sans"/>
              <a:cs typeface="Instrument Sans"/>
              <a:sym typeface="Instrument Sans"/>
            </a:endParaRPr>
          </a:p>
          <a:p>
            <a:pPr indent="0" lvl="0" marL="457200" rtl="0" algn="l">
              <a:lnSpc>
                <a:spcPct val="100000"/>
              </a:lnSpc>
              <a:spcBef>
                <a:spcPts val="0"/>
              </a:spcBef>
              <a:spcAft>
                <a:spcPts val="0"/>
              </a:spcAft>
              <a:buNone/>
            </a:pPr>
            <a:r>
              <a:t/>
            </a:r>
            <a:endParaRPr sz="2400">
              <a:solidFill>
                <a:schemeClr val="dk1"/>
              </a:solidFill>
              <a:latin typeface="Instrument Sans"/>
              <a:ea typeface="Instrument Sans"/>
              <a:cs typeface="Instrument Sans"/>
              <a:sym typeface="Instrument Sans"/>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latin typeface="Instrument Sans"/>
                <a:ea typeface="Instrument Sans"/>
                <a:cs typeface="Instrument Sans"/>
                <a:sym typeface="Instrument Sans"/>
              </a:rPr>
              <a:t>Testing in wild conditions </a:t>
            </a:r>
            <a:endParaRPr sz="2400">
              <a:solidFill>
                <a:schemeClr val="dk1"/>
              </a:solidFill>
              <a:latin typeface="Instrument Sans"/>
              <a:ea typeface="Instrument Sans"/>
              <a:cs typeface="Instrument Sans"/>
              <a:sym typeface="Instrument Sans"/>
            </a:endParaRPr>
          </a:p>
          <a:p>
            <a:pPr indent="0" lvl="0" marL="457200" rtl="0" algn="l">
              <a:lnSpc>
                <a:spcPct val="100000"/>
              </a:lnSpc>
              <a:spcBef>
                <a:spcPts val="0"/>
              </a:spcBef>
              <a:spcAft>
                <a:spcPts val="0"/>
              </a:spcAft>
              <a:buNone/>
            </a:pPr>
            <a:r>
              <a:t/>
            </a:r>
            <a:endParaRPr sz="2400">
              <a:solidFill>
                <a:schemeClr val="dk1"/>
              </a:solidFill>
              <a:latin typeface="Instrument Sans"/>
              <a:ea typeface="Instrument Sans"/>
              <a:cs typeface="Instrument Sans"/>
              <a:sym typeface="Instrument Sans"/>
            </a:endParaRPr>
          </a:p>
          <a:p>
            <a:pPr indent="-381000" lvl="0" marL="457200" rtl="0" algn="l">
              <a:lnSpc>
                <a:spcPct val="100000"/>
              </a:lnSpc>
              <a:spcBef>
                <a:spcPts val="0"/>
              </a:spcBef>
              <a:spcAft>
                <a:spcPts val="0"/>
              </a:spcAft>
              <a:buClr>
                <a:schemeClr val="dk1"/>
              </a:buClr>
              <a:buSzPts val="2400"/>
              <a:buFont typeface="Instrument Sans"/>
              <a:buChar char="➔"/>
            </a:pPr>
            <a:r>
              <a:rPr lang="en" sz="2400">
                <a:solidFill>
                  <a:schemeClr val="dk1"/>
                </a:solidFill>
                <a:latin typeface="Instrument Sans"/>
                <a:ea typeface="Instrument Sans"/>
                <a:cs typeface="Instrument Sans"/>
                <a:sym typeface="Instrument Sans"/>
              </a:rPr>
              <a:t>More trap types</a:t>
            </a:r>
            <a:endParaRPr sz="2400">
              <a:solidFill>
                <a:schemeClr val="dk1"/>
              </a:solidFill>
              <a:latin typeface="Instrument Sans"/>
              <a:ea typeface="Instrument Sans"/>
              <a:cs typeface="Instrument Sans"/>
              <a:sym typeface="Instrument Sans"/>
            </a:endParaRPr>
          </a:p>
          <a:p>
            <a:pPr indent="0" lvl="0" marL="457200" rtl="0" algn="l">
              <a:lnSpc>
                <a:spcPct val="100000"/>
              </a:lnSpc>
              <a:spcBef>
                <a:spcPts val="0"/>
              </a:spcBef>
              <a:spcAft>
                <a:spcPts val="0"/>
              </a:spcAft>
              <a:buNone/>
            </a:pPr>
            <a:r>
              <a:t/>
            </a:r>
            <a:endParaRPr sz="2400">
              <a:solidFill>
                <a:schemeClr val="dk1"/>
              </a:solidFill>
              <a:latin typeface="Instrument Sans"/>
              <a:ea typeface="Instrument Sans"/>
              <a:cs typeface="Instrument Sans"/>
              <a:sym typeface="Instrument Sans"/>
            </a:endParaRPr>
          </a:p>
          <a:p>
            <a:pPr indent="-381000" lvl="0" marL="457200" rtl="0" algn="l">
              <a:lnSpc>
                <a:spcPct val="100000"/>
              </a:lnSpc>
              <a:spcBef>
                <a:spcPts val="0"/>
              </a:spcBef>
              <a:spcAft>
                <a:spcPts val="0"/>
              </a:spcAft>
              <a:buClr>
                <a:schemeClr val="dk1"/>
              </a:buClr>
              <a:buSzPts val="2400"/>
              <a:buFont typeface="Instrument Sans"/>
              <a:buChar char="➔"/>
            </a:pPr>
            <a:r>
              <a:rPr lang="en" sz="2400">
                <a:solidFill>
                  <a:schemeClr val="dk1"/>
                </a:solidFill>
                <a:latin typeface="Instrument Sans"/>
                <a:ea typeface="Instrument Sans"/>
                <a:cs typeface="Instrument Sans"/>
                <a:sym typeface="Instrument Sans"/>
              </a:rPr>
              <a:t>Longer trials </a:t>
            </a:r>
            <a:endParaRPr sz="2400">
              <a:solidFill>
                <a:schemeClr val="dk1"/>
              </a:solidFill>
              <a:latin typeface="Instrument Sans"/>
              <a:ea typeface="Instrument Sans"/>
              <a:cs typeface="Instrument Sans"/>
              <a:sym typeface="Instrument Sans"/>
            </a:endParaRPr>
          </a:p>
          <a:p>
            <a:pPr indent="-406400" lvl="1" marL="914400" rtl="0" algn="l">
              <a:lnSpc>
                <a:spcPct val="100000"/>
              </a:lnSpc>
              <a:spcBef>
                <a:spcPts val="0"/>
              </a:spcBef>
              <a:spcAft>
                <a:spcPts val="0"/>
              </a:spcAft>
              <a:buClr>
                <a:schemeClr val="dk1"/>
              </a:buClr>
              <a:buSzPts val="2800"/>
              <a:buFont typeface="Instrument Sans"/>
              <a:buChar char="◆"/>
            </a:pPr>
            <a:r>
              <a:rPr lang="en" sz="2400">
                <a:solidFill>
                  <a:schemeClr val="dk1"/>
                </a:solidFill>
                <a:latin typeface="Instrument Sans"/>
                <a:ea typeface="Instrument Sans"/>
                <a:cs typeface="Instrument Sans"/>
                <a:sym typeface="Instrument Sans"/>
              </a:rPr>
              <a:t>Determine if there are chronic effects</a:t>
            </a:r>
            <a:r>
              <a:rPr lang="en" sz="2800">
                <a:solidFill>
                  <a:schemeClr val="dk1"/>
                </a:solidFill>
                <a:latin typeface="Instrument Sans"/>
                <a:ea typeface="Instrument Sans"/>
                <a:cs typeface="Instrument Sans"/>
                <a:sym typeface="Instrument Sans"/>
              </a:rPr>
              <a:t> </a:t>
            </a:r>
            <a:endParaRPr sz="2800">
              <a:solidFill>
                <a:schemeClr val="dk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sz="1800">
              <a:solidFill>
                <a:schemeClr val="dk1"/>
              </a:solidFill>
            </a:endParaRPr>
          </a:p>
        </p:txBody>
      </p:sp>
      <p:pic>
        <p:nvPicPr>
          <p:cNvPr id="163" name="Google Shape;163;p24" title="Screenshot 2026-06-02 at 12.14.57 PM.png"/>
          <p:cNvPicPr preferRelativeResize="0"/>
          <p:nvPr/>
        </p:nvPicPr>
        <p:blipFill>
          <a:blip r:embed="rId3">
            <a:alphaModFix/>
          </a:blip>
          <a:stretch>
            <a:fillRect/>
          </a:stretch>
        </p:blipFill>
        <p:spPr>
          <a:xfrm>
            <a:off x="5705475" y="221725"/>
            <a:ext cx="2487850" cy="3289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nvSpPr>
        <p:spPr>
          <a:xfrm>
            <a:off x="76200" y="136050"/>
            <a:ext cx="8645700" cy="11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dk1"/>
                </a:solidFill>
                <a:latin typeface="Instrument Sans"/>
                <a:ea typeface="Instrument Sans"/>
                <a:cs typeface="Instrument Sans"/>
                <a:sym typeface="Instrument Sans"/>
              </a:rPr>
              <a:t>Sources </a:t>
            </a:r>
            <a:endParaRPr b="1" sz="3700">
              <a:solidFill>
                <a:schemeClr val="dk1"/>
              </a:solidFill>
              <a:latin typeface="Instrument Sans"/>
              <a:ea typeface="Instrument Sans"/>
              <a:cs typeface="Instrument Sans"/>
              <a:sym typeface="Instrument Sans"/>
            </a:endParaRPr>
          </a:p>
        </p:txBody>
      </p:sp>
      <p:sp>
        <p:nvSpPr>
          <p:cNvPr id="169" name="Google Shape;169;p25"/>
          <p:cNvSpPr txBox="1"/>
          <p:nvPr/>
        </p:nvSpPr>
        <p:spPr>
          <a:xfrm>
            <a:off x="76200" y="758525"/>
            <a:ext cx="8991600" cy="4540500"/>
          </a:xfrm>
          <a:prstGeom prst="rect">
            <a:avLst/>
          </a:prstGeom>
          <a:noFill/>
          <a:ln>
            <a:noFill/>
          </a:ln>
        </p:spPr>
        <p:txBody>
          <a:bodyPr anchorCtr="0" anchor="t" bIns="91425" lIns="91425" spcFirstLastPara="1" rIns="91425" wrap="square" tIns="91425">
            <a:noAutofit/>
          </a:bodyPr>
          <a:lstStyle/>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Archdale, M. V., Añasco, C. P., Kawamura, Y., &amp; Tomiki, S. (2007). Effect of two collapsible pot designs on escape rate and behavior of the invasive swimming crabs </a:t>
            </a:r>
            <a:r>
              <a:rPr i="1" lang="en" sz="1200">
                <a:solidFill>
                  <a:schemeClr val="dk1"/>
                </a:solidFill>
                <a:latin typeface="Instrument Sans"/>
                <a:ea typeface="Instrument Sans"/>
                <a:cs typeface="Instrument Sans"/>
                <a:sym typeface="Instrument Sans"/>
              </a:rPr>
              <a:t>Charybdis japonica</a:t>
            </a:r>
            <a:r>
              <a:rPr lang="en" sz="1200">
                <a:solidFill>
                  <a:schemeClr val="dk1"/>
                </a:solidFill>
                <a:latin typeface="Instrument Sans"/>
                <a:ea typeface="Instrument Sans"/>
                <a:cs typeface="Instrument Sans"/>
                <a:sym typeface="Instrument Sans"/>
              </a:rPr>
              <a:t> and </a:t>
            </a:r>
            <a:r>
              <a:rPr i="1" lang="en" sz="1200">
                <a:solidFill>
                  <a:schemeClr val="dk1"/>
                </a:solidFill>
                <a:latin typeface="Instrument Sans"/>
                <a:ea typeface="Instrument Sans"/>
                <a:cs typeface="Instrument Sans"/>
                <a:sym typeface="Instrument Sans"/>
              </a:rPr>
              <a:t>Portunus pelagicus</a:t>
            </a:r>
            <a:r>
              <a:rPr lang="en" sz="1200">
                <a:solidFill>
                  <a:schemeClr val="dk1"/>
                </a:solidFill>
                <a:latin typeface="Instrument Sans"/>
                <a:ea typeface="Instrument Sans"/>
                <a:cs typeface="Instrument Sans"/>
                <a:sym typeface="Instrument Sans"/>
              </a:rPr>
              <a:t>. </a:t>
            </a:r>
            <a:r>
              <a:rPr i="1" lang="en" sz="1200">
                <a:solidFill>
                  <a:schemeClr val="dk1"/>
                </a:solidFill>
                <a:latin typeface="Instrument Sans"/>
                <a:ea typeface="Instrument Sans"/>
                <a:cs typeface="Instrument Sans"/>
                <a:sym typeface="Instrument Sans"/>
              </a:rPr>
              <a:t>Fisheries Research</a:t>
            </a:r>
            <a:r>
              <a:rPr lang="en" sz="1200">
                <a:solidFill>
                  <a:schemeClr val="dk1"/>
                </a:solidFill>
                <a:latin typeface="Instrument Sans"/>
                <a:ea typeface="Instrument Sans"/>
                <a:cs typeface="Instrument Sans"/>
                <a:sym typeface="Instrument Sans"/>
              </a:rPr>
              <a:t>, </a:t>
            </a:r>
            <a:r>
              <a:rPr i="1" lang="en" sz="1200">
                <a:solidFill>
                  <a:schemeClr val="dk1"/>
                </a:solidFill>
                <a:latin typeface="Instrument Sans"/>
                <a:ea typeface="Instrument Sans"/>
                <a:cs typeface="Instrument Sans"/>
                <a:sym typeface="Instrument Sans"/>
              </a:rPr>
              <a:t>85</a:t>
            </a:r>
            <a:r>
              <a:rPr lang="en" sz="1200">
                <a:solidFill>
                  <a:schemeClr val="dk1"/>
                </a:solidFill>
                <a:latin typeface="Instrument Sans"/>
                <a:ea typeface="Instrument Sans"/>
                <a:cs typeface="Instrument Sans"/>
                <a:sym typeface="Instrument Sans"/>
              </a:rPr>
              <a:t>(1), 202–209. </a:t>
            </a:r>
            <a:r>
              <a:rPr lang="en" sz="1200" u="sng">
                <a:solidFill>
                  <a:schemeClr val="dk1"/>
                </a:solidFill>
                <a:latin typeface="Instrument Sans"/>
                <a:ea typeface="Instrument Sans"/>
                <a:cs typeface="Instrument Sans"/>
                <a:sym typeface="Instrument Sans"/>
                <a:hlinkClick r:id="rId3">
                  <a:extLst>
                    <a:ext uri="{A12FA001-AC4F-418D-AE19-62706E023703}">
                      <ahyp:hlinkClr val="tx"/>
                    </a:ext>
                  </a:extLst>
                </a:hlinkClick>
              </a:rPr>
              <a:t>https://doi.org/10.1016/j.fishres.2007.02.008</a:t>
            </a:r>
            <a:endParaRPr sz="1200" u="sng">
              <a:solidFill>
                <a:schemeClr val="dk1"/>
              </a:solidFill>
              <a:latin typeface="Instrument Sans"/>
              <a:ea typeface="Instrument Sans"/>
              <a:cs typeface="Instrument Sans"/>
              <a:sym typeface="Instrument Sans"/>
            </a:endParaRPr>
          </a:p>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Cauvel, K. (2024, June 19). Tribes test innovative trap in battle against invasive crab. </a:t>
            </a:r>
            <a:r>
              <a:rPr i="1" lang="en" sz="1200">
                <a:solidFill>
                  <a:schemeClr val="dk1"/>
                </a:solidFill>
                <a:latin typeface="Instrument Sans"/>
                <a:ea typeface="Instrument Sans"/>
                <a:cs typeface="Instrument Sans"/>
                <a:sym typeface="Instrument Sans"/>
              </a:rPr>
              <a:t>Northwest Treaty Tribes</a:t>
            </a:r>
            <a:r>
              <a:rPr lang="en" sz="1200">
                <a:solidFill>
                  <a:schemeClr val="dk1"/>
                </a:solidFill>
                <a:latin typeface="Instrument Sans"/>
                <a:ea typeface="Instrument Sans"/>
                <a:cs typeface="Instrument Sans"/>
                <a:sym typeface="Instrument Sans"/>
              </a:rPr>
              <a:t>. </a:t>
            </a:r>
            <a:r>
              <a:rPr lang="en" sz="1200" u="sng">
                <a:solidFill>
                  <a:schemeClr val="dk1"/>
                </a:solidFill>
                <a:latin typeface="Instrument Sans"/>
                <a:ea typeface="Instrument Sans"/>
                <a:cs typeface="Instrument Sans"/>
                <a:sym typeface="Instrument Sans"/>
                <a:hlinkClick r:id="rId4">
                  <a:extLst>
                    <a:ext uri="{A12FA001-AC4F-418D-AE19-62706E023703}">
                      <ahyp:hlinkClr val="tx"/>
                    </a:ext>
                  </a:extLst>
                </a:hlinkClick>
              </a:rPr>
              <a:t>https://nwtreatytribes.org/tribes-test-innovative-trap-in-battle-against-invasive-crab/</a:t>
            </a:r>
            <a:endParaRPr sz="1200" u="sng">
              <a:solidFill>
                <a:schemeClr val="dk1"/>
              </a:solidFill>
              <a:latin typeface="Instrument Sans"/>
              <a:ea typeface="Instrument Sans"/>
              <a:cs typeface="Instrument Sans"/>
              <a:sym typeface="Instrument Sans"/>
            </a:endParaRPr>
          </a:p>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Darnell, M. Z., Darnell, K. M., McDowell, R. E., &amp; Rittschof, D. (2010). Postcapture Survival and Future Reproductive Potential of Ovigerous Blue Crabs Callinectes sapidus Caught in the Central North Carolina Pot Fishery. </a:t>
            </a:r>
            <a:r>
              <a:rPr i="1" lang="en" sz="1200">
                <a:solidFill>
                  <a:schemeClr val="dk1"/>
                </a:solidFill>
                <a:latin typeface="Instrument Sans"/>
                <a:ea typeface="Instrument Sans"/>
                <a:cs typeface="Instrument Sans"/>
                <a:sym typeface="Instrument Sans"/>
              </a:rPr>
              <a:t>Transactions of the American Fisheries Society</a:t>
            </a:r>
            <a:r>
              <a:rPr lang="en" sz="1200">
                <a:solidFill>
                  <a:schemeClr val="dk1"/>
                </a:solidFill>
                <a:latin typeface="Instrument Sans"/>
                <a:ea typeface="Instrument Sans"/>
                <a:cs typeface="Instrument Sans"/>
                <a:sym typeface="Instrument Sans"/>
              </a:rPr>
              <a:t>, </a:t>
            </a:r>
            <a:r>
              <a:rPr i="1" lang="en" sz="1200">
                <a:solidFill>
                  <a:schemeClr val="dk1"/>
                </a:solidFill>
                <a:latin typeface="Instrument Sans"/>
                <a:ea typeface="Instrument Sans"/>
                <a:cs typeface="Instrument Sans"/>
                <a:sym typeface="Instrument Sans"/>
              </a:rPr>
              <a:t>139</a:t>
            </a:r>
            <a:r>
              <a:rPr lang="en" sz="1200">
                <a:solidFill>
                  <a:schemeClr val="dk1"/>
                </a:solidFill>
                <a:latin typeface="Instrument Sans"/>
                <a:ea typeface="Instrument Sans"/>
                <a:cs typeface="Instrument Sans"/>
                <a:sym typeface="Instrument Sans"/>
              </a:rPr>
              <a:t>(6), 1677–1687. </a:t>
            </a:r>
            <a:r>
              <a:rPr lang="en" sz="1200" u="sng">
                <a:solidFill>
                  <a:schemeClr val="dk1"/>
                </a:solidFill>
                <a:latin typeface="Instrument Sans"/>
                <a:ea typeface="Instrument Sans"/>
                <a:cs typeface="Instrument Sans"/>
                <a:sym typeface="Instrument Sans"/>
                <a:hlinkClick r:id="rId5">
                  <a:extLst>
                    <a:ext uri="{A12FA001-AC4F-418D-AE19-62706E023703}">
                      <ahyp:hlinkClr val="tx"/>
                    </a:ext>
                  </a:extLst>
                </a:hlinkClick>
              </a:rPr>
              <a:t>https://doi.org/10.1577/T10-034.1</a:t>
            </a:r>
            <a:endParaRPr sz="1200" u="sng">
              <a:solidFill>
                <a:schemeClr val="dk1"/>
              </a:solidFill>
              <a:latin typeface="Instrument Sans"/>
              <a:ea typeface="Instrument Sans"/>
              <a:cs typeface="Instrument Sans"/>
              <a:sym typeface="Instrument Sans"/>
            </a:endParaRPr>
          </a:p>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Ens, N. J., Harvey, B., Davies, M. M., Thomson, H. M., Meyers, K. J., Yakimishyn, J., Lee, L. C., McCord, M. E., &amp; Gerwing, T. G. (2022). The Green Wave: Reviewing the environmental impacts of the invasive European green crab (Carcinus maenas) and potential management approaches. </a:t>
            </a:r>
            <a:r>
              <a:rPr i="1" lang="en" sz="1200">
                <a:solidFill>
                  <a:schemeClr val="dk1"/>
                </a:solidFill>
                <a:latin typeface="Instrument Sans"/>
                <a:ea typeface="Instrument Sans"/>
                <a:cs typeface="Instrument Sans"/>
                <a:sym typeface="Instrument Sans"/>
              </a:rPr>
              <a:t>Environmental Reviews</a:t>
            </a:r>
            <a:r>
              <a:rPr lang="en" sz="1200">
                <a:solidFill>
                  <a:schemeClr val="dk1"/>
                </a:solidFill>
                <a:latin typeface="Instrument Sans"/>
                <a:ea typeface="Instrument Sans"/>
                <a:cs typeface="Instrument Sans"/>
                <a:sym typeface="Instrument Sans"/>
              </a:rPr>
              <a:t>, </a:t>
            </a:r>
            <a:r>
              <a:rPr i="1" lang="en" sz="1200">
                <a:solidFill>
                  <a:schemeClr val="dk1"/>
                </a:solidFill>
                <a:latin typeface="Instrument Sans"/>
                <a:ea typeface="Instrument Sans"/>
                <a:cs typeface="Instrument Sans"/>
                <a:sym typeface="Instrument Sans"/>
              </a:rPr>
              <a:t>30</a:t>
            </a:r>
            <a:r>
              <a:rPr lang="en" sz="1200">
                <a:solidFill>
                  <a:schemeClr val="dk1"/>
                </a:solidFill>
                <a:latin typeface="Instrument Sans"/>
                <a:ea typeface="Instrument Sans"/>
                <a:cs typeface="Instrument Sans"/>
                <a:sym typeface="Instrument Sans"/>
              </a:rPr>
              <a:t>(2), 306–322. </a:t>
            </a:r>
            <a:r>
              <a:rPr lang="en" sz="1200" u="sng">
                <a:solidFill>
                  <a:schemeClr val="dk1"/>
                </a:solidFill>
                <a:latin typeface="Instrument Sans"/>
                <a:ea typeface="Instrument Sans"/>
                <a:cs typeface="Instrument Sans"/>
                <a:sym typeface="Instrument Sans"/>
                <a:hlinkClick r:id="rId6">
                  <a:extLst>
                    <a:ext uri="{A12FA001-AC4F-418D-AE19-62706E023703}">
                      <ahyp:hlinkClr val="tx"/>
                    </a:ext>
                  </a:extLst>
                </a:hlinkClick>
              </a:rPr>
              <a:t>https://doi.org/10.1139/er-2021-0059</a:t>
            </a:r>
            <a:endParaRPr sz="1200">
              <a:solidFill>
                <a:schemeClr val="dk1"/>
              </a:solidFill>
              <a:latin typeface="Instrument Sans"/>
              <a:ea typeface="Instrument Sans"/>
              <a:cs typeface="Instrument Sans"/>
              <a:sym typeface="Instrument Sans"/>
            </a:endParaRPr>
          </a:p>
          <a:p>
            <a:pPr indent="0" lvl="0" marL="0" rtl="0" algn="l">
              <a:spcBef>
                <a:spcPts val="0"/>
              </a:spcBef>
              <a:spcAft>
                <a:spcPts val="0"/>
              </a:spcAft>
              <a:buClr>
                <a:schemeClr val="dk1"/>
              </a:buClr>
              <a:buSzPts val="1100"/>
              <a:buFont typeface="Arial"/>
              <a:buNone/>
            </a:pPr>
            <a:r>
              <a:rPr lang="en" sz="1200">
                <a:solidFill>
                  <a:schemeClr val="dk1"/>
                </a:solidFill>
                <a:latin typeface="Instrument Sans"/>
                <a:ea typeface="Instrument Sans"/>
                <a:cs typeface="Instrument Sans"/>
                <a:sym typeface="Instrument Sans"/>
              </a:rPr>
              <a:t>Mente, E. “Protein Nutrition in Crustaceans.”</a:t>
            </a:r>
            <a:r>
              <a:rPr i="1" lang="en" sz="1200">
                <a:solidFill>
                  <a:schemeClr val="dk1"/>
                </a:solidFill>
                <a:latin typeface="Instrument Sans"/>
                <a:ea typeface="Instrument Sans"/>
                <a:cs typeface="Instrument Sans"/>
                <a:sym typeface="Instrument Sans"/>
              </a:rPr>
              <a:t>CABI Reviews</a:t>
            </a:r>
            <a:r>
              <a:rPr lang="en" sz="1200">
                <a:solidFill>
                  <a:schemeClr val="dk1"/>
                </a:solidFill>
                <a:latin typeface="Instrument Sans"/>
                <a:ea typeface="Instrument Sans"/>
                <a:cs typeface="Instrument Sans"/>
                <a:sym typeface="Instrument Sans"/>
              </a:rPr>
              <a:t>, Nov. 2006. </a:t>
            </a:r>
            <a:r>
              <a:rPr i="1" lang="en" sz="1200">
                <a:solidFill>
                  <a:schemeClr val="dk1"/>
                </a:solidFill>
                <a:latin typeface="Instrument Sans"/>
                <a:ea typeface="Instrument Sans"/>
                <a:cs typeface="Instrument Sans"/>
                <a:sym typeface="Instrument Sans"/>
              </a:rPr>
              <a:t>DOI.org (Crossref)</a:t>
            </a:r>
            <a:r>
              <a:rPr lang="en" sz="1200">
                <a:solidFill>
                  <a:schemeClr val="dk1"/>
                </a:solidFill>
                <a:latin typeface="Instrument Sans"/>
                <a:ea typeface="Instrument Sans"/>
                <a:cs typeface="Instrument Sans"/>
                <a:sym typeface="Instrument Sans"/>
              </a:rPr>
              <a:t>, </a:t>
            </a:r>
            <a:r>
              <a:rPr lang="en" sz="1200" u="sng">
                <a:solidFill>
                  <a:schemeClr val="dk1"/>
                </a:solidFill>
                <a:latin typeface="Instrument Sans"/>
                <a:ea typeface="Instrument Sans"/>
                <a:cs typeface="Instrument Sans"/>
                <a:sym typeface="Instrument Sans"/>
                <a:hlinkClick r:id="rId7">
                  <a:extLst>
                    <a:ext uri="{A12FA001-AC4F-418D-AE19-62706E023703}">
                      <ahyp:hlinkClr val="tx"/>
                    </a:ext>
                  </a:extLst>
                </a:hlinkClick>
              </a:rPr>
              <a:t>https://doi.org/10.1079/PAVSNNR20061043</a:t>
            </a:r>
            <a:r>
              <a:rPr lang="en" sz="1200">
                <a:solidFill>
                  <a:schemeClr val="dk1"/>
                </a:solidFill>
                <a:latin typeface="Instrument Sans"/>
                <a:ea typeface="Instrument Sans"/>
                <a:cs typeface="Instrument Sans"/>
                <a:sym typeface="Instrument Sans"/>
              </a:rPr>
              <a:t>.</a:t>
            </a:r>
            <a:endParaRPr sz="1200">
              <a:solidFill>
                <a:schemeClr val="dk1"/>
              </a:solidFill>
              <a:latin typeface="Instrument Sans"/>
              <a:ea typeface="Instrument Sans"/>
              <a:cs typeface="Instrument Sans"/>
              <a:sym typeface="Instrument Sans"/>
            </a:endParaRPr>
          </a:p>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Schroeder-Spain K, Fisher LL, Smee DL (2018) Uncoordinated: Effects of sublethal malathion and carbaryl exposures on juvenile and adult blue crabs (Callinectes sapidus). J Exp Mar Biol Ecol 504:1–9. </a:t>
            </a:r>
            <a:r>
              <a:rPr lang="en" sz="1200" u="sng">
                <a:solidFill>
                  <a:schemeClr val="dk1"/>
                </a:solidFill>
                <a:latin typeface="Instrument Sans"/>
                <a:ea typeface="Instrument Sans"/>
                <a:cs typeface="Instrument Sans"/>
                <a:sym typeface="Instrument Sans"/>
                <a:hlinkClick r:id="rId8">
                  <a:extLst>
                    <a:ext uri="{A12FA001-AC4F-418D-AE19-62706E023703}">
                      <ahyp:hlinkClr val="tx"/>
                    </a:ext>
                  </a:extLst>
                </a:hlinkClick>
              </a:rPr>
              <a:t>https://doi.org/10.1016/j.jembe.2018.03.005</a:t>
            </a:r>
            <a:r>
              <a:rPr lang="en" sz="1200">
                <a:solidFill>
                  <a:schemeClr val="dk1"/>
                </a:solidFill>
                <a:latin typeface="Instrument Sans"/>
                <a:ea typeface="Instrument Sans"/>
                <a:cs typeface="Instrument Sans"/>
                <a:sym typeface="Instrument Sans"/>
              </a:rPr>
              <a:t> </a:t>
            </a:r>
            <a:endParaRPr sz="1200" u="sng">
              <a:solidFill>
                <a:schemeClr val="dk1"/>
              </a:solidFill>
              <a:latin typeface="Instrument Sans"/>
              <a:ea typeface="Instrument Sans"/>
              <a:cs typeface="Instrument Sans"/>
              <a:sym typeface="Instrument Sans"/>
            </a:endParaRPr>
          </a:p>
          <a:p>
            <a:pPr indent="-279400" lvl="0" marL="279400" rtl="0" algn="l">
              <a:lnSpc>
                <a:spcPct val="100000"/>
              </a:lnSpc>
              <a:spcBef>
                <a:spcPts val="0"/>
              </a:spcBef>
              <a:spcAft>
                <a:spcPts val="0"/>
              </a:spcAft>
              <a:buNone/>
            </a:pPr>
            <a:r>
              <a:rPr lang="en" sz="1200">
                <a:solidFill>
                  <a:schemeClr val="dk1"/>
                </a:solidFill>
                <a:latin typeface="Instrument Sans"/>
                <a:ea typeface="Instrument Sans"/>
                <a:cs typeface="Instrument Sans"/>
                <a:sym typeface="Instrument Sans"/>
              </a:rPr>
              <a:t>Tummon Flynn, P., Poirier, L. A., Beaulieu, G., Barrett, T. J., Cairns, D. K., &amp; Quijón, P. A. (2024). On the rebound: Removal programs yield local-scale benefits but do not sustainably suppress populations of invasive European green crabs (Carcinus maenas). </a:t>
            </a:r>
            <a:r>
              <a:rPr i="1" lang="en" sz="1200">
                <a:solidFill>
                  <a:schemeClr val="dk1"/>
                </a:solidFill>
                <a:latin typeface="Instrument Sans"/>
                <a:ea typeface="Instrument Sans"/>
                <a:cs typeface="Instrument Sans"/>
                <a:sym typeface="Instrument Sans"/>
              </a:rPr>
              <a:t>Biological Invasions</a:t>
            </a:r>
            <a:r>
              <a:rPr lang="en" sz="1200">
                <a:solidFill>
                  <a:schemeClr val="dk1"/>
                </a:solidFill>
                <a:latin typeface="Instrument Sans"/>
                <a:ea typeface="Instrument Sans"/>
                <a:cs typeface="Instrument Sans"/>
                <a:sym typeface="Instrument Sans"/>
              </a:rPr>
              <a:t>, </a:t>
            </a:r>
            <a:r>
              <a:rPr i="1" lang="en" sz="1200">
                <a:solidFill>
                  <a:schemeClr val="dk1"/>
                </a:solidFill>
                <a:latin typeface="Instrument Sans"/>
                <a:ea typeface="Instrument Sans"/>
                <a:cs typeface="Instrument Sans"/>
                <a:sym typeface="Instrument Sans"/>
              </a:rPr>
              <a:t>26</a:t>
            </a:r>
            <a:r>
              <a:rPr lang="en" sz="1200">
                <a:solidFill>
                  <a:schemeClr val="dk1"/>
                </a:solidFill>
                <a:latin typeface="Instrument Sans"/>
                <a:ea typeface="Instrument Sans"/>
                <a:cs typeface="Instrument Sans"/>
                <a:sym typeface="Instrument Sans"/>
              </a:rPr>
              <a:t>(2), 451–469. </a:t>
            </a:r>
            <a:r>
              <a:rPr lang="en" sz="1200" u="sng">
                <a:solidFill>
                  <a:schemeClr val="dk1"/>
                </a:solidFill>
                <a:latin typeface="Instrument Sans"/>
                <a:ea typeface="Instrument Sans"/>
                <a:cs typeface="Instrument Sans"/>
                <a:sym typeface="Instrument Sans"/>
                <a:hlinkClick r:id="rId9">
                  <a:extLst>
                    <a:ext uri="{A12FA001-AC4F-418D-AE19-62706E023703}">
                      <ahyp:hlinkClr val="tx"/>
                    </a:ext>
                  </a:extLst>
                </a:hlinkClick>
              </a:rPr>
              <a:t>https://doi.org/10.1007/s10530-023-03183-4</a:t>
            </a:r>
            <a:endParaRPr sz="1200">
              <a:solidFill>
                <a:schemeClr val="dk1"/>
              </a:solidFill>
              <a:latin typeface="Instrument Sans"/>
              <a:ea typeface="Instrument Sans"/>
              <a:cs typeface="Instrument Sans"/>
              <a:sym typeface="Instrument Sa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nvSpPr>
        <p:spPr>
          <a:xfrm>
            <a:off x="741525" y="1194025"/>
            <a:ext cx="5982900" cy="21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Thank you for listening to our presentation!!! </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t/>
            </a:r>
            <a:endParaRPr b="1" sz="3200">
              <a:solidFill>
                <a:schemeClr val="dk1"/>
              </a:solidFill>
              <a:latin typeface="Instrument Sans"/>
              <a:ea typeface="Instrument Sans"/>
              <a:cs typeface="Instrument Sans"/>
              <a:sym typeface="Instrument Sans"/>
            </a:endParaRPr>
          </a:p>
          <a:p>
            <a:pPr indent="0" lvl="0" marL="0" rtl="0" algn="l">
              <a:spcBef>
                <a:spcPts val="0"/>
              </a:spcBef>
              <a:spcAft>
                <a:spcPts val="0"/>
              </a:spcAft>
              <a:buNone/>
            </a:pPr>
            <a:r>
              <a:rPr b="1" lang="en" sz="3200">
                <a:solidFill>
                  <a:schemeClr val="dk1"/>
                </a:solidFill>
                <a:latin typeface="Instrument Sans"/>
                <a:ea typeface="Instrument Sans"/>
                <a:cs typeface="Instrument Sans"/>
                <a:sym typeface="Instrument Sans"/>
              </a:rPr>
              <a:t>Questions?</a:t>
            </a:r>
            <a:endParaRPr b="1" sz="3200">
              <a:solidFill>
                <a:schemeClr val="dk1"/>
              </a:solidFill>
              <a:latin typeface="Instrument Sans"/>
              <a:ea typeface="Instrument Sans"/>
              <a:cs typeface="Instrument Sans"/>
              <a:sym typeface="Instrument Sans"/>
            </a:endParaRPr>
          </a:p>
        </p:txBody>
      </p:sp>
      <p:pic>
        <p:nvPicPr>
          <p:cNvPr descr="a pixel art of a crab on a white background (Provided by Tenor)" id="175" name="Google Shape;175;p26"/>
          <p:cNvPicPr preferRelativeResize="0"/>
          <p:nvPr/>
        </p:nvPicPr>
        <p:blipFill>
          <a:blip r:embed="rId3">
            <a:alphaModFix/>
          </a:blip>
          <a:stretch>
            <a:fillRect/>
          </a:stretch>
        </p:blipFill>
        <p:spPr>
          <a:xfrm>
            <a:off x="5730435" y="2230275"/>
            <a:ext cx="2515765" cy="2493300"/>
          </a:xfrm>
          <a:prstGeom prst="rect">
            <a:avLst/>
          </a:prstGeom>
          <a:noFill/>
          <a:ln>
            <a:noFill/>
          </a:ln>
        </p:spPr>
      </p:pic>
      <p:sp>
        <p:nvSpPr>
          <p:cNvPr id="176" name="Google Shape;176;p26"/>
          <p:cNvSpPr txBox="1"/>
          <p:nvPr/>
        </p:nvSpPr>
        <p:spPr>
          <a:xfrm>
            <a:off x="0" y="4926325"/>
            <a:ext cx="1684500" cy="19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F3F3F3"/>
                </a:solidFill>
                <a:latin typeface="Instrument Sans"/>
                <a:ea typeface="Instrument Sans"/>
                <a:cs typeface="Instrument Sans"/>
                <a:sym typeface="Instrument Sans"/>
              </a:rPr>
              <a:t>Please approve :)</a:t>
            </a:r>
            <a:endParaRPr sz="1000">
              <a:solidFill>
                <a:srgbClr val="F3F3F3"/>
              </a:solidFill>
              <a:latin typeface="Instrument Sans"/>
              <a:ea typeface="Instrument Sans"/>
              <a:cs typeface="Instrument Sans"/>
              <a:sym typeface="Instrument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